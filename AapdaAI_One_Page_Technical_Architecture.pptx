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c4e74d25c04ea3" /><Relationship Type="http://schemas.openxmlformats.org/officeDocument/2006/relationships/extended-properties" Target="/docProps/app.xml" Id="Rdf3ae8d092e0409b" /><Relationship Type="http://schemas.openxmlformats.org/officeDocument/2006/relationships/officeDocument" Target="/ppt/presentation.xml" Id="R6cedbea96e76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521b74f1c14331"/>
  </p:sldMasterIdLst>
  <p:notesMasterIdLst>
    <p:notesMasterId xmlns:r="http://schemas.openxmlformats.org/officeDocument/2006/relationships" r:id="R2dc8695bd72e49bc"/>
  </p:notesMasterIdLst>
  <p:sldIdLst>
    <p:sldId xmlns:r="http://schemas.openxmlformats.org/officeDocument/2006/relationships" id="256" r:id="R0b8177a19dc945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a90bc98c634cb9" /><Relationship Type="http://schemas.openxmlformats.org/officeDocument/2006/relationships/slideMaster" Target="/ppt/slideMasters/slideMaster1.xml" Id="R58521b74f1c14331" /><Relationship Type="http://schemas.openxmlformats.org/officeDocument/2006/relationships/notesMaster" Target="/ppt/notesMasters/notesMaster1.xml" Id="R2dc8695bd72e49bc" /><Relationship Type="http://schemas.openxmlformats.org/officeDocument/2006/relationships/presProps" Target="/ppt/presProps.xml" Id="R204467a186024696" /><Relationship Type="http://schemas.openxmlformats.org/officeDocument/2006/relationships/tableStyles" Target="/ppt/tableStyles.xml" Id="Ra3414cf9118342be" /><Relationship Type="http://schemas.openxmlformats.org/officeDocument/2006/relationships/slide" Target="/ppt/slides/slide1.xml" Id="R0b8177a19dc945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9ece343eb2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c47a19148a4dfd" /><Relationship Type="http://schemas.openxmlformats.org/officeDocument/2006/relationships/notesMaster" Target="/ppt/notesMasters/notesMaster1.xml" Id="R43a253bc2e70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C:/Users/KIIT/cowork/aapdaai-backend/app/main.py</a:t>
            </a:r>
          </a:p>
          <a:p xmlns:a="http://schemas.openxmlformats.org/drawingml/2006/main">
            <a:r>
              <a:t>- C:/Users/KIIT/cowork/aapdaai-backend/app/intake.py</a:t>
            </a:r>
          </a:p>
          <a:p xmlns:a="http://schemas.openxmlformats.org/drawingml/2006/main">
            <a:r>
              <a:t>- C:/Users/KIIT/cowork/aapdaai-backend/app/extract.py</a:t>
            </a:r>
          </a:p>
          <a:p xmlns:a="http://schemas.openxmlformats.org/drawingml/2006/main">
            <a:r>
              <a:t>- C:/Users/KIIT/cowork/aapdaai-backend/app/pipeline.py</a:t>
            </a:r>
          </a:p>
          <a:p xmlns:a="http://schemas.openxmlformats.org/drawingml/2006/main">
            <a:r>
              <a:t>- C:/Users/KIIT/cowork/aapdaai-backend/app/incident.py</a:t>
            </a:r>
          </a:p>
          <a:p xmlns:a="http://schemas.openxmlformats.org/drawingml/2006/main">
            <a:r>
              <a:t>- C:/Users/KIIT/cowork/aapdaai-backend/app/compute.py</a:t>
            </a:r>
          </a:p>
          <a:p xmlns:a="http://schemas.openxmlformats.org/drawingml/2006/main">
            <a:r>
              <a:t>- C:/Users/KIIT/cowork/aapdaai-backend/app/resources.py</a:t>
            </a:r>
          </a:p>
          <a:p xmlns:a="http://schemas.openxmlformats.org/drawingml/2006/main">
            <a:r>
              <a:t>- C:/Users/KIIT/cowork/aapdaai-backend/app/db.py</a:t>
            </a:r>
          </a:p>
          <a:p xmlns:a="http://schemas.openxmlformats.org/drawingml/2006/main">
            <a:r>
              <a:t>- C:/Users/KIIT/cowork/aapdaai-backend/app/store.py</a:t>
            </a:r>
          </a:p>
          <a:p xmlns:a="http://schemas.openxmlformats.org/drawingml/2006/main">
            <a:r>
              <a:t>- C:/Users/KIIT/cowork/Aapda_AI/src/App.jsx</a:t>
            </a:r>
          </a:p>
          <a:p xmlns:a="http://schemas.openxmlformats.org/drawingml/2006/main">
            <a:r>
              <a:t>- C:/Users/KIIT/cowork/Aapda_AI/src/api.js</a:t>
            </a:r>
          </a:p>
          <a:p xmlns:a="http://schemas.openxmlformats.org/drawingml/2006/main">
            <a:r>
              <a:t>- C:/Users/KIIT/cowork/Aapda_AI/src/useIncidents.js</a:t>
            </a:r>
          </a:p>
          <a:p xmlns:a="http://schemas.openxmlformats.org/drawingml/2006/main">
            <a:r>
              <a:t>- C:/Users/KIIT/cowork/Aapda_AI/src/TriageQueue.jsx</a:t>
            </a:r>
          </a:p>
          <a:p xmlns:a="http://schemas.openxmlformats.org/drawingml/2006/main">
            <a:r>
              <a:t>- C:/Users/KIIT/cowork/Aapda_AI/src/OperatorActions.jsx</a:t>
            </a:r>
          </a:p>
          <a:p xmlns:a="http://schemas.openxmlformats.org/drawingml/2006/main">
            <a:r>
              <a:t>- C:/Users/KIIT/cowork/Aapda_AI/src/AssistancePanel.jsx</a:t>
            </a:r>
          </a:p>
          <a:p xmlns:a="http://schemas.openxmlformats.org/drawingml/2006/main">
            <a:r>
              <a:t>- C:/Users/KIIT/cowork/Aapda_AI/src/IncidentMap.jsx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106c23a2d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c600b2b374409" /><Relationship Type="http://schemas.openxmlformats.org/officeDocument/2006/relationships/slideLayout" Target="/ppt/slideLayouts/slideLayout1.xml" Id="R8d54945256a947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54945256a947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619e68f0d46bd" /><Relationship Type="http://schemas.openxmlformats.org/officeDocument/2006/relationships/notesSlide" Target="/ppt/notesSlides/notesSlide1.xml" Id="Rcbd48a9613ad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8A4340-4A34-4376-BB1D-E6DA01E7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7FAFC"/>
                </a:solidFill>
              </a:defRPr>
            </a:pPr>
            <a:r>
              <a:rPr sz="2250" b="1" i="0">
                <a:solidFill>
                  <a:srgbClr val="F7FAFC"/>
                </a:solidFill>
              </a:rPr>
              <a:t>AAPDAAI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63B44-48FC-4E88-BF45-25420B17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ONE-PAGE TECHNICAL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F7525-745F-4698-AB7D-D8B7C0B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9B7C7"/>
                </a:solidFill>
              </a:defRPr>
            </a:pPr>
            <a:r>
              <a:rPr sz="1350" b="0" i="0">
                <a:solidFill>
                  <a:srgbClr val="A9B7C7"/>
                </a:solidFill>
              </a:rPr>
              <a:t>A disaster report enters once, moves through one pipeline, and becomes an accountable operator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8846F-F47C-4C82-9B45-B18BAD07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"/>
            <a:ext cx="1000125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45D4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5D483"/>
                </a:solidFill>
              </a:defRPr>
            </a:pPr>
            <a:r>
              <a:rPr sz="825" b="1">
                <a:solidFill>
                  <a:srgbClr val="45D483"/>
                </a:solidFill>
              </a:rPr>
              <a:t>IMPLEMENTED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A0F48-18F2-41F8-828A-5FCCD085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4800"/>
            <a:ext cx="809625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6C85F"/>
                </a:solidFill>
              </a:defRPr>
            </a:pPr>
            <a:r>
              <a:rPr sz="825" b="1">
                <a:solidFill>
                  <a:srgbClr val="F6C85F"/>
                </a:solidFill>
              </a:rPr>
              <a:t>PARTIAL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8147A-D1A0-4D8F-A7AA-E1089408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04800"/>
            <a:ext cx="1000125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17263B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7A6E"/>
                </a:solidFill>
              </a:defRPr>
            </a:pPr>
            <a:r>
              <a:rPr sz="825" b="1">
                <a:solidFill>
                  <a:srgbClr val="FF7A6E"/>
                </a:solidFill>
              </a:rPr>
              <a:t>OPERATOR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C146A-A171-4638-BEF7-ED28890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81482-3494-4509-A963-D7BA6B9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OVERALL WORKFLOW</a:t>
            </a:r>
          </a:p>
        </p:txBody>
      </p:sp>
      <p:sp>
        <p:nvSpPr>
          <p:cNvPr id="9" name="CITIZEN">
            <a:extLst xmlns:a="http://schemas.openxmlformats.org/drawingml/2006/main">
              <a:ext uri="{FF2B5EF4-FFF2-40B4-BE49-F238E27FC236}">
                <a16:creationId xmlns:a16="http://schemas.microsoft.com/office/drawing/2014/main" id="{61AE989D-5869-4F69-B4DC-B6074C2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CITIZEN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WhatsApp /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15880-628B-4AE6-9986-D09EB02E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TAKE">
            <a:extLst xmlns:a="http://schemas.openxmlformats.org/drawingml/2006/main">
              <a:ext uri="{FF2B5EF4-FFF2-40B4-BE49-F238E27FC236}">
                <a16:creationId xmlns:a16="http://schemas.microsoft.com/office/drawing/2014/main" id="{BD76F2B6-0317-438B-A154-3DCF3D9C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INTAKE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POST /webhook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or /reports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6D669-08C3-46F4-BD93-D5D0E67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9050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14" name="UNDERSTAND">
            <a:extLst xmlns:a="http://schemas.openxmlformats.org/drawingml/2006/main">
              <a:ext uri="{FF2B5EF4-FFF2-40B4-BE49-F238E27FC236}">
                <a16:creationId xmlns:a16="http://schemas.microsoft.com/office/drawing/2014/main" id="{ABE768C4-03D7-4B13-975A-4D8E63B2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UNDERSTAND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extract.py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6EBAC-6D4C-47E7-B933-FFE265DB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052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6E"/>
            </a:solidFill>
            <a:prstDash val="solid"/>
            <a:tailEnd type="triangle" w="sm" len="sm"/>
          </a:ln>
        </p:spPr>
      </p:cxnSp>
      <p:sp>
        <p:nvSpPr>
          <p:cNvPr id="17" name="GROUP + SCORE">
            <a:extLst xmlns:a="http://schemas.openxmlformats.org/drawingml/2006/main">
              <a:ext uri="{FF2B5EF4-FFF2-40B4-BE49-F238E27FC236}">
                <a16:creationId xmlns:a16="http://schemas.microsoft.com/office/drawing/2014/main" id="{5CDABB19-E0C7-41CD-B844-B904ABB4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GROUP + SCORE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incident.py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compute.py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70A4B-A8FD-4B14-88D2-20ECDDD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1054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20" name="STORE">
            <a:extLst xmlns:a="http://schemas.openxmlformats.org/drawingml/2006/main">
              <a:ext uri="{FF2B5EF4-FFF2-40B4-BE49-F238E27FC236}">
                <a16:creationId xmlns:a16="http://schemas.microsoft.com/office/drawing/2014/main" id="{C25F3224-EE33-44E0-976A-D40EFBE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STORE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raw_messages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incidents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4B0085-BC7C-4CF1-ADB6-BA1DA155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056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A5FF"/>
            </a:solidFill>
            <a:prstDash val="solid"/>
            <a:tailEnd type="triangle" w="sm" len="sm"/>
          </a:ln>
        </p:spPr>
      </p:cxnSp>
      <p:sp>
        <p:nvSpPr>
          <p:cNvPr id="23" name="REST API">
            <a:extLst xmlns:a="http://schemas.openxmlformats.org/drawingml/2006/main">
              <a:ext uri="{FF2B5EF4-FFF2-40B4-BE49-F238E27FC236}">
                <a16:creationId xmlns:a16="http://schemas.microsoft.com/office/drawing/2014/main" id="{C446384B-68B5-4C00-8D1B-DE0489E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REST API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GET /incidents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7EF4D-E303-4098-A84A-B8C1B870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3058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5D6E6"/>
            </a:solidFill>
            <a:prstDash val="solid"/>
            <a:tailEnd type="triangle" w="sm" len="sm"/>
          </a:ln>
        </p:spPr>
      </p:cxnSp>
      <p:sp>
        <p:nvSpPr>
          <p:cNvPr id="26" name="DASHBOARD">
            <a:extLst xmlns:a="http://schemas.openxmlformats.org/drawingml/2006/main">
              <a:ext uri="{FF2B5EF4-FFF2-40B4-BE49-F238E27FC236}">
                <a16:creationId xmlns:a16="http://schemas.microsoft.com/office/drawing/2014/main" id="{AA6D2EE6-1207-42E7-823E-03834EBF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04950"/>
            <a:ext cx="13716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DASHBOARD</a:t>
            </a:r>
          </a:p>
          <a:p xmlns:a="http://schemas.openxmlformats.org/drawingml/2006/main">
            <a:pPr algn="ctr">
              <a:defRPr sz="900" b="1">
                <a:solidFill>
                  <a:srgbClr val="F7FAFC"/>
                </a:solidFill>
              </a:defRPr>
            </a:pPr>
            <a:r>
              <a:rPr sz="900" b="1">
                <a:solidFill>
                  <a:srgbClr val="F7FAFC"/>
                </a:solidFill>
              </a:rPr>
              <a:t>React operator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D1B63-633D-4D87-B4FF-BFF8423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504950"/>
            <a:ext cx="3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906000" y="1866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5D483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07538A-B3C1-47E1-B14E-DC6D8745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7FAFC"/>
                </a:solidFill>
              </a:defRPr>
            </a:pPr>
            <a:r>
              <a:rPr sz="1125" b="1" i="0">
                <a:solidFill>
                  <a:srgbClr val="F7FAFC"/>
                </a:solidFill>
              </a:rPr>
              <a:t>Raw payload -&gt; structured Need -&gt; clustered Incident -&gt; ranked brief -&gt; verification / dispatch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36D84-2FE2-499E-BD9A-2501B07C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53911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929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671067-FDF3-4C61-B83C-82A0814E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7A6E"/>
                </a:solidFill>
              </a:defRPr>
            </a:pPr>
            <a:r>
              <a:rPr sz="1650" b="1" i="0">
                <a:solidFill>
                  <a:srgbClr val="FF7A6E"/>
                </a:solidFill>
              </a:rPr>
              <a:t>BACKEND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9B0A2-2674-4B9D-9515-9278B5E0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86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7"/>
                </a:solidFill>
              </a:defRPr>
            </a:pPr>
            <a:r>
              <a:rPr sz="1050" b="1" i="0">
                <a:solidFill>
                  <a:srgbClr val="A9B7C7"/>
                </a:solidFill>
              </a:rPr>
              <a:t>FastAPI + Python pipeline</a:t>
            </a:r>
          </a:p>
        </p:txBody>
      </p:sp>
      <p:sp>
        <p:nvSpPr>
          <p:cNvPr id="33" name="app/main.py">
            <a:extLst xmlns:a="http://schemas.openxmlformats.org/drawingml/2006/main">
              <a:ext uri="{FF2B5EF4-FFF2-40B4-BE49-F238E27FC236}">
                <a16:creationId xmlns:a16="http://schemas.microsoft.com/office/drawing/2014/main" id="{1C68930F-7183-4745-8EE8-249BC7F8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app/main.py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webhook + REST routes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225DD4-5FC3-4DB0-B47B-F5821A17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app/intake.py">
            <a:extLst xmlns:a="http://schemas.openxmlformats.org/drawingml/2006/main">
              <a:ext uri="{FF2B5EF4-FFF2-40B4-BE49-F238E27FC236}">
                <a16:creationId xmlns:a16="http://schemas.microsoft.com/office/drawing/2014/main" id="{C1A8BED0-A3AC-4664-B0BE-FBEDE8E3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480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app/intake.py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web form adapter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94C188-6BCC-4873-922A-E2A4332D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48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app/extract.py">
            <a:extLst xmlns:a="http://schemas.openxmlformats.org/drawingml/2006/main">
              <a:ext uri="{FF2B5EF4-FFF2-40B4-BE49-F238E27FC236}">
                <a16:creationId xmlns:a16="http://schemas.microsoft.com/office/drawing/2014/main" id="{ADCD2005-C787-438F-81D3-CBD953F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app/extract.py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rules + media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F906CE-DFB3-4AF7-B0C6-0A4E2AF7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pp/pipeline.py">
            <a:extLst xmlns:a="http://schemas.openxmlformats.org/drawingml/2006/main">
              <a:ext uri="{FF2B5EF4-FFF2-40B4-BE49-F238E27FC236}">
                <a16:creationId xmlns:a16="http://schemas.microsoft.com/office/drawing/2014/main" id="{667D8D2D-BE09-4F97-AE58-9555CE15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app/pipeline.py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build / respond_to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B1CFB5-DE56-44E3-BB2F-8680A084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pp/incident.py">
            <a:extLst xmlns:a="http://schemas.openxmlformats.org/drawingml/2006/main">
              <a:ext uri="{FF2B5EF4-FFF2-40B4-BE49-F238E27FC236}">
                <a16:creationId xmlns:a16="http://schemas.microsoft.com/office/drawing/2014/main" id="{A3A99DDD-21C7-43BD-AD92-4D2FAEDC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app/incident.py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400m / 3h clustering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1B32DE-A8B2-4AD7-8987-4BF2BFA7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app/compute.py">
            <a:extLst xmlns:a="http://schemas.openxmlformats.org/drawingml/2006/main">
              <a:ext uri="{FF2B5EF4-FFF2-40B4-BE49-F238E27FC236}">
                <a16:creationId xmlns:a16="http://schemas.microsoft.com/office/drawing/2014/main" id="{7A953AE0-491E-47A6-A677-270A677C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app/compute.py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severity + confidence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FC52FD-AB32-45E0-8EAA-1BB7D009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app/resources.py">
            <a:extLst xmlns:a="http://schemas.openxmlformats.org/drawingml/2006/main">
              <a:ext uri="{FF2B5EF4-FFF2-40B4-BE49-F238E27FC236}">
                <a16:creationId xmlns:a16="http://schemas.microsoft.com/office/drawing/2014/main" id="{F9715171-4C6E-4A08-9F6C-B8B2701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app/resources.py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nearest unit / shortage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553B00-6B7F-4109-80AF-E0006B75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app/db.py + store.py">
            <a:extLst xmlns:a="http://schemas.openxmlformats.org/drawingml/2006/main">
              <a:ext uri="{FF2B5EF4-FFF2-40B4-BE49-F238E27FC236}">
                <a16:creationId xmlns:a16="http://schemas.microsoft.com/office/drawing/2014/main" id="{26AEA5A0-673C-454C-BE2B-B17FEB9C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911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app/db.py + store.py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SQLite/Postgres + decisions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739881-4BCA-4829-896F-3D3E3D4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911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A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3448B9-3A22-4837-B139-658ECE9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A9B7C7"/>
                </a:solidFill>
              </a:defRPr>
            </a:pPr>
            <a:r>
              <a:rPr sz="975" b="0" i="1">
                <a:solidFill>
                  <a:srgbClr val="A9B7C7"/>
                </a:solidFill>
              </a:rPr>
              <a:t>Input adapters share the same downstream processing path.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A2A726-0F08-41D2-A33A-4DD0A555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53911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929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38603C-C50D-4742-92E6-A2776B14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5D483"/>
                </a:solidFill>
              </a:defRPr>
            </a:pPr>
            <a:r>
              <a:rPr sz="1650" b="1" i="0">
                <a:solidFill>
                  <a:srgbClr val="45D483"/>
                </a:solidFill>
              </a:rPr>
              <a:t>FRONTEND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28657-E9EA-4A73-B986-C4F8668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861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9B7C7"/>
                </a:solidFill>
              </a:defRPr>
            </a:pPr>
            <a:r>
              <a:rPr sz="1050" b="1" i="0">
                <a:solidFill>
                  <a:srgbClr val="A9B7C7"/>
                </a:solidFill>
              </a:rPr>
              <a:t>React dashboard + API adapter</a:t>
            </a:r>
          </a:p>
        </p:txBody>
      </p:sp>
      <p:sp>
        <p:nvSpPr>
          <p:cNvPr id="53" name="src/App.jsx">
            <a:extLst xmlns:a="http://schemas.openxmlformats.org/drawingml/2006/main">
              <a:ext uri="{FF2B5EF4-FFF2-40B4-BE49-F238E27FC236}">
                <a16:creationId xmlns:a16="http://schemas.microsoft.com/office/drawing/2014/main" id="{E962D0CC-ADBD-40AF-808B-95AB6666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src/App.jsx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shell + pages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2ABB3C-AEA8-4C7B-A080-E1FD46F4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48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rc/api.js">
            <a:extLst xmlns:a="http://schemas.openxmlformats.org/drawingml/2006/main">
              <a:ext uri="{FF2B5EF4-FFF2-40B4-BE49-F238E27FC236}">
                <a16:creationId xmlns:a16="http://schemas.microsoft.com/office/drawing/2014/main" id="{324B1971-C9FE-4672-B63E-F93FEA89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src/api.js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fetch / POST adapter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AF9974-5D69-4BE3-8857-148B9403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rc/useIncidents.js">
            <a:extLst xmlns:a="http://schemas.openxmlformats.org/drawingml/2006/main">
              <a:ext uri="{FF2B5EF4-FFF2-40B4-BE49-F238E27FC236}">
                <a16:creationId xmlns:a16="http://schemas.microsoft.com/office/drawing/2014/main" id="{AC287578-275E-4EDA-9F11-61448AC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src/useIncidents.js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polls every 10s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5B28E0-B840-4D88-842E-BB877BE5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624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rc/TriageQueue.jsx">
            <a:extLst xmlns:a="http://schemas.openxmlformats.org/drawingml/2006/main">
              <a:ext uri="{FF2B5EF4-FFF2-40B4-BE49-F238E27FC236}">
                <a16:creationId xmlns:a16="http://schemas.microsoft.com/office/drawing/2014/main" id="{637DCD48-C595-4C7B-B253-0ACC8C11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src/TriageQueue.jsx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queue + follow-ups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34B7E2-21EF-41AD-B4A4-AC3901CE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rc/OperatorActions.jsx">
            <a:extLst xmlns:a="http://schemas.openxmlformats.org/drawingml/2006/main">
              <a:ext uri="{FF2B5EF4-FFF2-40B4-BE49-F238E27FC236}">
                <a16:creationId xmlns:a16="http://schemas.microsoft.com/office/drawing/2014/main" id="{A0145D91-7ACF-4026-80BC-27C695DB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src/OperatorActions.jsx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verify + dispatch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7CBECA-0F11-425E-B576-4D8197F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rc/AssistancePanel.jsx">
            <a:extLst xmlns:a="http://schemas.openxmlformats.org/drawingml/2006/main">
              <a:ext uri="{FF2B5EF4-FFF2-40B4-BE49-F238E27FC236}">
                <a16:creationId xmlns:a16="http://schemas.microsoft.com/office/drawing/2014/main" id="{D9610698-F5B1-49C4-815E-AF741EE8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src/AssistancePanel.jsx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arrival funnel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9AA676-D01A-45C4-BEF6-34E0FF48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rc/IncidentMap.jsx">
            <a:extLst xmlns:a="http://schemas.openxmlformats.org/drawingml/2006/main">
              <a:ext uri="{FF2B5EF4-FFF2-40B4-BE49-F238E27FC236}">
                <a16:creationId xmlns:a16="http://schemas.microsoft.com/office/drawing/2014/main" id="{2E133ED3-F7EA-4210-911A-364181E3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F6C85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src/IncidentMap.jsx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exists; live wiring partial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6C4AC7-F033-49EB-80C0-8FB8C944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T contract">
            <a:extLst xmlns:a="http://schemas.openxmlformats.org/drawingml/2006/main">
              <a:ext uri="{FF2B5EF4-FFF2-40B4-BE49-F238E27FC236}">
                <a16:creationId xmlns:a16="http://schemas.microsoft.com/office/drawing/2014/main" id="{36841A13-AE86-40CE-A508-8ACF885A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2286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11C2E"/>
          </a:solidFill>
          <a:ln xmlns:a="http://schemas.openxmlformats.org/drawingml/2006/main" w="9525">
            <a:solidFill>
              <a:srgbClr val="2B3B5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REST contract</a:t>
            </a:r>
          </a:p>
          <a:p xmlns:a="http://schemas.openxmlformats.org/drawingml/2006/main">
            <a:pPr algn="ctr"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incidents + stats + actions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DCBCAE-6F06-4B61-A6A5-7E616F6D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F1ABB6-F0F8-445F-9278-11E7CFC0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673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A9B7C7"/>
                </a:solidFill>
              </a:defRPr>
            </a:pPr>
            <a:r>
              <a:rPr sz="975" b="0" i="1">
                <a:solidFill>
                  <a:srgbClr val="A9B7C7"/>
                </a:solidFill>
              </a:rPr>
              <a:t>The UI reads ranked incidents and sends named operator decisions back.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BB50B39-94CF-43AC-87C2-4CEECCF5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252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9525">
            <a:solidFill>
              <a:srgbClr val="FF7A6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75BC17-A53A-4BAC-A574-7FA2806D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7A6E"/>
                </a:solidFill>
              </a:defRPr>
            </a:pPr>
            <a:r>
              <a:rPr sz="1050" b="1" i="0">
                <a:solidFill>
                  <a:srgbClr val="FF7A6E"/>
                </a:solidFill>
              </a:rPr>
              <a:t>HUMAN-IN-THE-LOOP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BDEF59-1092-4D80-B258-BB3683DD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76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7FAFC"/>
                </a:solidFill>
              </a:defRPr>
            </a:pPr>
            <a:r>
              <a:rPr sz="1200" b="1" i="0">
                <a:solidFill>
                  <a:srgbClr val="F7FAFC"/>
                </a:solidFill>
              </a:rPr>
              <a:t>Backend recommends. A named operator verifies, assigns, and checks whether help actually arrived.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61EA40-6679-4D64-AAB8-4ED0B60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B7C7"/>
                </a:solidFill>
              </a:defRPr>
            </a:pPr>
            <a:r>
              <a:rPr sz="750" b="1" i="0">
                <a:solidFill>
                  <a:srgbClr val="A9B7C7"/>
                </a:solidFill>
              </a:rPr>
              <a:t>SOURCE-OF-TRUTH MAP / HACKATHON PROTOTYPE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D97334A-90F7-4B04-9A2F-CC6C70CE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5151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D6E6"/>
                </a:solidFill>
              </a:defRPr>
            </a:pPr>
            <a:r>
              <a:rPr sz="975" b="1" i="0">
                <a:solidFill>
                  <a:srgbClr val="55D6E6"/>
                </a:solidFill>
              </a:rPr>
              <a:t>AAPDAAI</a:t>
            </a:r>
          </a:p>
        </p:txBody>
      </p:sp>
    </p:spTree>
    <p:extLst>
      <p:ext uri="{BB962C8B-B14F-4D97-AF65-F5344CB8AC3E}">
        <p14:creationId xmlns:p14="http://schemas.microsoft.com/office/powerpoint/2010/main" val="394247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2026-08-28T18:56:51.3370000Z</dcterms:created>
  <dcterms:modified xsi:type="dcterms:W3CDTF">2026-08-28T18:56:51.3370000Z</dcterms:modified>
</coreProperties>
</file>