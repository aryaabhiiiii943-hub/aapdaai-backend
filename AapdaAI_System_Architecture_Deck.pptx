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23681007644215" /><Relationship Type="http://schemas.openxmlformats.org/officeDocument/2006/relationships/extended-properties" Target="/docProps/app.xml" Id="R2fedff362aca4a3b" /><Relationship Type="http://schemas.openxmlformats.org/officeDocument/2006/relationships/officeDocument" Target="/ppt/presentation.xml" Id="Rb877dfd01c5846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fd63dbb4404daf"/>
  </p:sldMasterIdLst>
  <p:notesMasterIdLst>
    <p:notesMasterId xmlns:r="http://schemas.openxmlformats.org/officeDocument/2006/relationships" r:id="R81920de9c9ed4366"/>
  </p:notesMasterIdLst>
  <p:sldIdLst>
    <p:sldId xmlns:r="http://schemas.openxmlformats.org/officeDocument/2006/relationships" id="256" r:id="R530c26c0933e4cdc"/>
    <p:sldId xmlns:r="http://schemas.openxmlformats.org/officeDocument/2006/relationships" id="257" r:id="R0842381d38754acb"/>
    <p:sldId xmlns:r="http://schemas.openxmlformats.org/officeDocument/2006/relationships" id="258" r:id="R6d1500df1026426b"/>
    <p:sldId xmlns:r="http://schemas.openxmlformats.org/officeDocument/2006/relationships" id="259" r:id="R68a777b760624bf6"/>
    <p:sldId xmlns:r="http://schemas.openxmlformats.org/officeDocument/2006/relationships" id="260" r:id="R3e93e251910b42de"/>
    <p:sldId xmlns:r="http://schemas.openxmlformats.org/officeDocument/2006/relationships" id="261" r:id="R0769c1b765f64c6d"/>
    <p:sldId xmlns:r="http://schemas.openxmlformats.org/officeDocument/2006/relationships" id="262" r:id="Rce6c1852d7a84960"/>
    <p:sldId xmlns:r="http://schemas.openxmlformats.org/officeDocument/2006/relationships" id="263" r:id="R886a60826f3e4a2e"/>
    <p:sldId xmlns:r="http://schemas.openxmlformats.org/officeDocument/2006/relationships" id="264" r:id="R58552eddddec4471"/>
    <p:sldId xmlns:r="http://schemas.openxmlformats.org/officeDocument/2006/relationships" id="265" r:id="R129c589e2e574abd"/>
    <p:sldId xmlns:r="http://schemas.openxmlformats.org/officeDocument/2006/relationships" id="266" r:id="Rf0b5163966484eba"/>
    <p:sldId xmlns:r="http://schemas.openxmlformats.org/officeDocument/2006/relationships" id="267" r:id="Rec556b9552a94ef4"/>
    <p:sldId xmlns:r="http://schemas.openxmlformats.org/officeDocument/2006/relationships" id="268" r:id="R850187b8385b4c27"/>
    <p:sldId xmlns:r="http://schemas.openxmlformats.org/officeDocument/2006/relationships" id="269" r:id="R46a48a4c2e3d4ec1"/>
    <p:sldId xmlns:r="http://schemas.openxmlformats.org/officeDocument/2006/relationships" id="270" r:id="Rd46ffeec220c46c7"/>
    <p:sldId xmlns:r="http://schemas.openxmlformats.org/officeDocument/2006/relationships" id="271" r:id="Rf33c6a9f841947d4"/>
    <p:sldId xmlns:r="http://schemas.openxmlformats.org/officeDocument/2006/relationships" id="272" r:id="R1c366755032844cd"/>
    <p:sldId xmlns:r="http://schemas.openxmlformats.org/officeDocument/2006/relationships" id="273" r:id="Rd3f4b0bbe1ae4403"/>
    <p:sldId xmlns:r="http://schemas.openxmlformats.org/officeDocument/2006/relationships" id="274" r:id="R29ef7df3f7cd4265"/>
    <p:sldId xmlns:r="http://schemas.openxmlformats.org/officeDocument/2006/relationships" id="275" r:id="R31eabc3256f54e81"/>
    <p:sldId xmlns:r="http://schemas.openxmlformats.org/officeDocument/2006/relationships" id="276" r:id="Ra69d3aad77ae40a7"/>
    <p:sldId xmlns:r="http://schemas.openxmlformats.org/officeDocument/2006/relationships" id="277" r:id="Rd5e27a4dc52d4895"/>
    <p:sldId xmlns:r="http://schemas.openxmlformats.org/officeDocument/2006/relationships" id="278" r:id="R469114ddc24c464e"/>
    <p:sldId xmlns:r="http://schemas.openxmlformats.org/officeDocument/2006/relationships" id="279" r:id="R164011f49c5240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e886bbe22f4f68" /><Relationship Type="http://schemas.openxmlformats.org/officeDocument/2006/relationships/slideMaster" Target="/ppt/slideMasters/slideMaster1.xml" Id="Rf4fd63dbb4404daf" /><Relationship Type="http://schemas.openxmlformats.org/officeDocument/2006/relationships/notesMaster" Target="/ppt/notesMasters/notesMaster1.xml" Id="R81920de9c9ed4366" /><Relationship Type="http://schemas.openxmlformats.org/officeDocument/2006/relationships/presProps" Target="/ppt/presProps.xml" Id="Rfa9c351a50904481" /><Relationship Type="http://schemas.openxmlformats.org/officeDocument/2006/relationships/tableStyles" Target="/ppt/tableStyles.xml" Id="Rd38abf401ea44448" /><Relationship Type="http://schemas.openxmlformats.org/officeDocument/2006/relationships/slide" Target="/ppt/slides/slide1.xml" Id="R530c26c0933e4cdc" /><Relationship Type="http://schemas.openxmlformats.org/officeDocument/2006/relationships/slide" Target="/ppt/slides/slide2.xml" Id="R0842381d38754acb" /><Relationship Type="http://schemas.openxmlformats.org/officeDocument/2006/relationships/slide" Target="/ppt/slides/slide3.xml" Id="R6d1500df1026426b" /><Relationship Type="http://schemas.openxmlformats.org/officeDocument/2006/relationships/slide" Target="/ppt/slides/slide4.xml" Id="R68a777b760624bf6" /><Relationship Type="http://schemas.openxmlformats.org/officeDocument/2006/relationships/slide" Target="/ppt/slides/slide5.xml" Id="R3e93e251910b42de" /><Relationship Type="http://schemas.openxmlformats.org/officeDocument/2006/relationships/slide" Target="/ppt/slides/slide6.xml" Id="R0769c1b765f64c6d" /><Relationship Type="http://schemas.openxmlformats.org/officeDocument/2006/relationships/slide" Target="/ppt/slides/slide7.xml" Id="Rce6c1852d7a84960" /><Relationship Type="http://schemas.openxmlformats.org/officeDocument/2006/relationships/slide" Target="/ppt/slides/slide8.xml" Id="R886a60826f3e4a2e" /><Relationship Type="http://schemas.openxmlformats.org/officeDocument/2006/relationships/slide" Target="/ppt/slides/slide9.xml" Id="R58552eddddec4471" /><Relationship Type="http://schemas.openxmlformats.org/officeDocument/2006/relationships/slide" Target="/ppt/slides/slide10.xml" Id="R129c589e2e574abd" /><Relationship Type="http://schemas.openxmlformats.org/officeDocument/2006/relationships/slide" Target="/ppt/slides/slide11.xml" Id="Rf0b5163966484eba" /><Relationship Type="http://schemas.openxmlformats.org/officeDocument/2006/relationships/slide" Target="/ppt/slides/slide12.xml" Id="Rec556b9552a94ef4" /><Relationship Type="http://schemas.openxmlformats.org/officeDocument/2006/relationships/slide" Target="/ppt/slides/slide13.xml" Id="R850187b8385b4c27" /><Relationship Type="http://schemas.openxmlformats.org/officeDocument/2006/relationships/slide" Target="/ppt/slides/slide14.xml" Id="R46a48a4c2e3d4ec1" /><Relationship Type="http://schemas.openxmlformats.org/officeDocument/2006/relationships/slide" Target="/ppt/slides/slide15.xml" Id="Rd46ffeec220c46c7" /><Relationship Type="http://schemas.openxmlformats.org/officeDocument/2006/relationships/slide" Target="/ppt/slides/slide16.xml" Id="Rf33c6a9f841947d4" /><Relationship Type="http://schemas.openxmlformats.org/officeDocument/2006/relationships/slide" Target="/ppt/slides/slide17.xml" Id="R1c366755032844cd" /><Relationship Type="http://schemas.openxmlformats.org/officeDocument/2006/relationships/slide" Target="/ppt/slides/slide18.xml" Id="Rd3f4b0bbe1ae4403" /><Relationship Type="http://schemas.openxmlformats.org/officeDocument/2006/relationships/slide" Target="/ppt/slides/slide19.xml" Id="R29ef7df3f7cd4265" /><Relationship Type="http://schemas.openxmlformats.org/officeDocument/2006/relationships/slide" Target="/ppt/slides/slide20.xml" Id="R31eabc3256f54e81" /><Relationship Type="http://schemas.openxmlformats.org/officeDocument/2006/relationships/slide" Target="/ppt/slides/slide21.xml" Id="Ra69d3aad77ae40a7" /><Relationship Type="http://schemas.openxmlformats.org/officeDocument/2006/relationships/slide" Target="/ppt/slides/slide22.xml" Id="Rd5e27a4dc52d4895" /><Relationship Type="http://schemas.openxmlformats.org/officeDocument/2006/relationships/slide" Target="/ppt/slides/slide23.xml" Id="R469114ddc24c464e" /><Relationship Type="http://schemas.openxmlformats.org/officeDocument/2006/relationships/slide" Target="/ppt/slides/slide24.xml" Id="R164011f49c5240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6a5eb7f9a740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4a89b520e54d1e" /><Relationship Type="http://schemas.openxmlformats.org/officeDocument/2006/relationships/notesMaster" Target="/ppt/notesMasters/notesMaster1.xml" Id="R2fea5a13cc4949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32b0dd98704892" /><Relationship Type="http://schemas.openxmlformats.org/officeDocument/2006/relationships/notesMaster" Target="/ppt/notesMasters/notesMaster1.xml" Id="R8f3d3d2281c74b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dffa4398bd4fb3" /><Relationship Type="http://schemas.openxmlformats.org/officeDocument/2006/relationships/notesMaster" Target="/ppt/notesMasters/notesMaster1.xml" Id="Rf28033496a5d40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964dbc40ff4220" /><Relationship Type="http://schemas.openxmlformats.org/officeDocument/2006/relationships/notesMaster" Target="/ppt/notesMasters/notesMaster1.xml" Id="Rb3357577f4504d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668c65a7764939" /><Relationship Type="http://schemas.openxmlformats.org/officeDocument/2006/relationships/notesMaster" Target="/ppt/notesMasters/notesMaster1.xml" Id="Re7812405642b4e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eee6ee8a424810" /><Relationship Type="http://schemas.openxmlformats.org/officeDocument/2006/relationships/notesMaster" Target="/ppt/notesMasters/notesMaster1.xml" Id="R934e6804c5934b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4d48e4d1104ef7" /><Relationship Type="http://schemas.openxmlformats.org/officeDocument/2006/relationships/notesMaster" Target="/ppt/notesMasters/notesMaster1.xml" Id="R5906532ea0a04a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9cb5bc481048e6" /><Relationship Type="http://schemas.openxmlformats.org/officeDocument/2006/relationships/notesMaster" Target="/ppt/notesMasters/notesMaster1.xml" Id="R2b368d1bb99442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68b90f548e4467" /><Relationship Type="http://schemas.openxmlformats.org/officeDocument/2006/relationships/notesMaster" Target="/ppt/notesMasters/notesMaster1.xml" Id="R34b30a179ac24f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1e25d8087b4b8e" /><Relationship Type="http://schemas.openxmlformats.org/officeDocument/2006/relationships/notesMaster" Target="/ppt/notesMasters/notesMaster1.xml" Id="R647668aa2ad04e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feb6df7ff341b3" /><Relationship Type="http://schemas.openxmlformats.org/officeDocument/2006/relationships/notesMaster" Target="/ppt/notesMasters/notesMaster1.xml" Id="R92f6e3990f8641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a22c4ac9df467e" /><Relationship Type="http://schemas.openxmlformats.org/officeDocument/2006/relationships/notesMaster" Target="/ppt/notesMasters/notesMaster1.xml" Id="R8a952aa70fa14f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73b63d81604cd3" /><Relationship Type="http://schemas.openxmlformats.org/officeDocument/2006/relationships/notesMaster" Target="/ppt/notesMasters/notesMaster1.xml" Id="R25f16696684c47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b49770587b41e1" /><Relationship Type="http://schemas.openxmlformats.org/officeDocument/2006/relationships/notesMaster" Target="/ppt/notesMasters/notesMaster1.xml" Id="R27bd6c00aeb94f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f29a83b6a64a4b" /><Relationship Type="http://schemas.openxmlformats.org/officeDocument/2006/relationships/notesMaster" Target="/ppt/notesMasters/notesMaster1.xml" Id="Ra0b3cf9ad6a743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55bb9244d5473d" /><Relationship Type="http://schemas.openxmlformats.org/officeDocument/2006/relationships/notesMaster" Target="/ppt/notesMasters/notesMaster1.xml" Id="Rd2bc8ecd08404a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7e40f2c01349e9" /><Relationship Type="http://schemas.openxmlformats.org/officeDocument/2006/relationships/notesMaster" Target="/ppt/notesMasters/notesMaster1.xml" Id="R0ee5990f489142b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424273622c418e" /><Relationship Type="http://schemas.openxmlformats.org/officeDocument/2006/relationships/notesMaster" Target="/ppt/notesMasters/notesMaster1.xml" Id="R8c7375eb17a94a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027bb1094274fa7" /><Relationship Type="http://schemas.openxmlformats.org/officeDocument/2006/relationships/notesMaster" Target="/ppt/notesMasters/notesMaster1.xml" Id="R3f17116410b847f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71c4e11b28c4336" /><Relationship Type="http://schemas.openxmlformats.org/officeDocument/2006/relationships/notesMaster" Target="/ppt/notesMasters/notesMaster1.xml" Id="Rfeebd7a5237b482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4b6bd6613854f45" /><Relationship Type="http://schemas.openxmlformats.org/officeDocument/2006/relationships/notesMaster" Target="/ppt/notesMasters/notesMaster1.xml" Id="R75c205c70d6c443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1d1358d96874657" /><Relationship Type="http://schemas.openxmlformats.org/officeDocument/2006/relationships/notesMaster" Target="/ppt/notesMasters/notesMaster1.xml" Id="R75f3a306232448e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d56bb5671594341" /><Relationship Type="http://schemas.openxmlformats.org/officeDocument/2006/relationships/notesMaster" Target="/ppt/notesMasters/notesMaster1.xml" Id="R9e01f0f29ea544e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2e2d577e0fc4355" /><Relationship Type="http://schemas.openxmlformats.org/officeDocument/2006/relationships/notesMaster" Target="/ppt/notesMasters/notesMaster1.xml" Id="R91fda9e293fa48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promise: follow one report through the real code path and the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C:/Users/KIIT/cowork/aapdaai-backend/app/main.py</a:t>
            </a:r>
          </a:p>
          <a:p xmlns:a="http://schemas.openxmlformats.org/drawingml/2006/main">
            <a:r>
              <a:t>- C:/Users/KIIT/cowork/Aapda_AI/src/api.js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C:/Users/KIIT/cowork/aapdaai-backend/app/models.py</a:t>
            </a:r>
          </a:p>
          <a:p xmlns:a="http://schemas.openxmlformats.org/drawingml/2006/main">
            <a:r>
              <a:t>- C:/Users/KIIT/cowork/aapdaai-backend/app/incident.py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C:/Users/KIIT/cowork/aapdaai-backend/app/main.py</a:t>
            </a:r>
          </a:p>
          <a:p xmlns:a="http://schemas.openxmlformats.org/drawingml/2006/main">
            <a:r>
              <a:t>- C:/Users/KIIT/cowork/aapdaai-backend/app/db.py</a:t>
            </a:r>
          </a:p>
          <a:p xmlns:a="http://schemas.openxmlformats.org/drawingml/2006/main">
            <a:r>
              <a:t>- C:/Users/KIIT/cowork/Aapda_AI/src/api.js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C:/Users/KIIT/cowork/aapdaai-backend/app/main.py</a:t>
            </a:r>
          </a:p>
          <a:p xmlns:a="http://schemas.openxmlformats.org/drawingml/2006/main">
            <a:r>
              <a:t>- C:/Users/KIIT/cowork/aapdaai-backend/app/pipeline.py</a:t>
            </a:r>
          </a:p>
          <a:p xmlns:a="http://schemas.openxmlformats.org/drawingml/2006/main">
            <a:r>
              <a:t>- C:/Users/KIIT/cowork/aapdaai-backend/app/db.py</a:t>
            </a:r>
          </a:p>
          <a:p xmlns:a="http://schemas.openxmlformats.org/drawingml/2006/main">
            <a:r>
              <a:t>- C:/Users/KIIT/cowork/Aapda_AI/src/api.js</a:t>
            </a:r>
          </a:p>
          <a:p xmlns:a="http://schemas.openxmlformats.org/drawingml/2006/main">
            <a:r>
              <a:t>- C:/Users/KIIT/cowork/Aapda_AI/src/useIncidents.js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C:/Users/KIIT/cowork/aapdaai-backend/app/main.py</a:t>
            </a:r>
          </a:p>
          <a:p xmlns:a="http://schemas.openxmlformats.org/drawingml/2006/main">
            <a:r>
              <a:t>- C:/Users/KIIT/cowork/aapdaai-backend/app/extract.py</a:t>
            </a:r>
          </a:p>
          <a:p xmlns:a="http://schemas.openxmlformats.org/drawingml/2006/main">
            <a:r>
              <a:t>- C:/Users/KIIT/cowork/aapdaai-backend/app/incident.py</a:t>
            </a:r>
          </a:p>
          <a:p xmlns:a="http://schemas.openxmlformats.org/drawingml/2006/main">
            <a:r>
              <a:t>- C:/Users/KIIT/cowork/aapdaai-backend/app/compute.py</a:t>
            </a:r>
          </a:p>
          <a:p xmlns:a="http://schemas.openxmlformats.org/drawingml/2006/main">
            <a:r>
              <a:t>- C:/Users/KIIT/cowork/Aapda_AI/src/useIncidents.js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C:/Users/KIIT/cowork/aapdaai-backend/app/main.py</a:t>
            </a:r>
          </a:p>
          <a:p xmlns:a="http://schemas.openxmlformats.org/drawingml/2006/main">
            <a:r>
              <a:t>- C:/Users/KIIT/cowork/aapdaai-backend/app/extract.py</a:t>
            </a:r>
          </a:p>
          <a:p xmlns:a="http://schemas.openxmlformats.org/drawingml/2006/main">
            <a:r>
              <a:t>- C:/Users/KIIT/cowork/aapdaai-backend/app/llm.py</a:t>
            </a:r>
          </a:p>
          <a:p xmlns:a="http://schemas.openxmlformats.org/drawingml/2006/main">
            <a:r>
              <a:t>- C:/Users/KIIT/cowork/aapdaai-backend/app/incident.py</a:t>
            </a:r>
          </a:p>
          <a:p xmlns:a="http://schemas.openxmlformats.org/drawingml/2006/main">
            <a:r>
              <a:t>- C:/Users/KIIT/cowork/aapdaai-backend/app/compute.py</a:t>
            </a:r>
          </a:p>
          <a:p xmlns:a="http://schemas.openxmlformats.org/drawingml/2006/main">
            <a:r>
              <a:t>- C:/Users/KIIT/cowork/aapdaai-backend/app/pipeline.py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C:/Users/KIIT/cowork/aapdaai-backend/app/models.py</a:t>
            </a:r>
          </a:p>
          <a:p xmlns:a="http://schemas.openxmlformats.org/drawingml/2006/main">
            <a:r>
              <a:t>- C:/Users/KIIT/cowork/aapdaai-backend/app/extract.py</a:t>
            </a:r>
          </a:p>
          <a:p xmlns:a="http://schemas.openxmlformats.org/drawingml/2006/main">
            <a:r>
              <a:t>- C:/Users/KIIT/cowork/aapdaai-backend/app/incident.py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C:/Users/KIIT/cowork/aapdaai-backend/app/db.py</a:t>
            </a:r>
          </a:p>
          <a:p xmlns:a="http://schemas.openxmlformats.org/drawingml/2006/main">
            <a:r>
              <a:t>- C:/Users/KIIT/cowork/aapdaai-backend/app/store.py</a:t>
            </a:r>
          </a:p>
          <a:p xmlns:a="http://schemas.openxmlformats.org/drawingml/2006/main">
            <a:r>
              <a:t>- C:/Users/KIIT/cowork/aapdaai-backend/app/resources.py</a:t>
            </a:r>
          </a:p>
          <a:p xmlns:a="http://schemas.openxmlformats.org/drawingml/2006/main">
            <a:r>
              <a:t>- C:/Users/KIIT/cowork/aapdaai-backend/app/assistance.py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C:/Users/KIIT/cowork/Aapda_AI/src/api.js</a:t>
            </a:r>
          </a:p>
          <a:p xmlns:a="http://schemas.openxmlformats.org/drawingml/2006/main">
            <a:r>
              <a:t>- C:/Users/KIIT/cowork/Aapda_AI/src/useIncidents.js</a:t>
            </a:r>
          </a:p>
          <a:p xmlns:a="http://schemas.openxmlformats.org/drawingml/2006/main">
            <a:r>
              <a:t>- C:/Users/KIIT/cowork/Aapda_AI/src/OperatorActions.jsx</a:t>
            </a:r>
          </a:p>
          <a:p xmlns:a="http://schemas.openxmlformats.org/drawingml/2006/main">
            <a:r>
              <a:t>- C:/Users/KIIT/cowork/Aapda_AI/src/TriageQueue.jsx</a:t>
            </a:r>
          </a:p>
          <a:p xmlns:a="http://schemas.openxmlformats.org/drawingml/2006/main">
            <a:r>
              <a:t>- C:/Users/KIIT/cowork/aapdaai-backend/app/main.py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C:/Users/KIIT/cowork/Aapda_AI/src/App.jsx</a:t>
            </a:r>
          </a:p>
          <a:p xmlns:a="http://schemas.openxmlformats.org/drawingml/2006/main">
            <a:r>
              <a:t>- C:/Users/KIIT/cowork/Aapda_AI/src/TriageQueue.jsx</a:t>
            </a:r>
          </a:p>
          <a:p xmlns:a="http://schemas.openxmlformats.org/drawingml/2006/main">
            <a:r>
              <a:t>- C:/Users/KIIT/cowork/Aapda_AI/src/OperatorActions.jsx</a:t>
            </a:r>
          </a:p>
          <a:p xmlns:a="http://schemas.openxmlformats.org/drawingml/2006/main">
            <a:r>
              <a:t>- C:/Users/KIIT/cowork/Aapda_AI/src/AssistancePanel.jsx</a:t>
            </a:r>
          </a:p>
          <a:p xmlns:a="http://schemas.openxmlformats.org/drawingml/2006/main">
            <a:r>
              <a:t>- C:/Users/KIIT/cowork/Aapda_AI/src/IncidentMap.jsx</a:t>
            </a:r>
          </a:p>
          <a:p xmlns:a="http://schemas.openxmlformats.org/drawingml/2006/main">
            <a:r>
              <a:t>- C:/Users/KIIT/cowork/Aapda_AI/src/api.js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numbers here are illustrative UI values, not a live snapshot; the point is the information shape the real dashboard surfaces.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C:/Users/KIIT/cowork/Aapda_AI/src/App.jsx</a:t>
            </a:r>
          </a:p>
          <a:p xmlns:a="http://schemas.openxmlformats.org/drawingml/2006/main">
            <a:r>
              <a:t>- C:/Users/KIIT/cowork/Aapda_AI/src/TriageQueue.jsx</a:t>
            </a:r>
          </a:p>
          <a:p xmlns:a="http://schemas.openxmlformats.org/drawingml/2006/main">
            <a:r>
              <a:t>- C:/Users/KIIT/cowork/Aapda_AI/src/OperatorActions.jsx</a:t>
            </a:r>
          </a:p>
          <a:p xmlns:a="http://schemas.openxmlformats.org/drawingml/2006/main">
            <a:r>
              <a:t>- C:/Users/KIIT/cowork/aapdaai-backend/app/compute.py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C:/Users/KIIT/cowork/aapdaai-backend/app/main.py</a:t>
            </a:r>
          </a:p>
          <a:p xmlns:a="http://schemas.openxmlformats.org/drawingml/2006/main">
            <a:r>
              <a:t>- C:/Users/KIIT/cowork/aapdaai-backend/app/pipeline.py</a:t>
            </a:r>
          </a:p>
          <a:p xmlns:a="http://schemas.openxmlformats.org/drawingml/2006/main">
            <a:r>
              <a:t>- C:/Users/KIIT/cowork/aapdaai-backend/app/compute.py</a:t>
            </a:r>
          </a:p>
          <a:p xmlns:a="http://schemas.openxmlformats.org/drawingml/2006/main">
            <a:r>
              <a:t>- C:/Users/KIIT/cowork/aapdaai-backend/app/store.py</a:t>
            </a:r>
          </a:p>
          <a:p xmlns:a="http://schemas.openxmlformats.org/drawingml/2006/main">
            <a:r>
              <a:t>- C:/Users/KIIT/cowork/Aapda_AI/src/api.js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C:/Users/KIIT/cowork/aapdaai-backend/render.yaml</a:t>
            </a:r>
          </a:p>
          <a:p xmlns:a="http://schemas.openxmlformats.org/drawingml/2006/main">
            <a:r>
              <a:t>- C:/Users/KIIT/cowork/Aapda_AI/DEPLOY.md</a:t>
            </a:r>
          </a:p>
          <a:p xmlns:a="http://schemas.openxmlformats.org/drawingml/2006/main">
            <a:r>
              <a:t>- C:/Users/KIIT/cowork/aapdaai-backend/app/db.py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C:/Users/KIIT/cowork/aapdaai-backend/app/config.py</a:t>
            </a:r>
          </a:p>
          <a:p xmlns:a="http://schemas.openxmlformats.org/drawingml/2006/main">
            <a:r>
              <a:t>- C:/Users/KIIT/cowork/aapdaai-backend/render.yaml</a:t>
            </a:r>
          </a:p>
          <a:p xmlns:a="http://schemas.openxmlformats.org/drawingml/2006/main">
            <a:r>
              <a:t>- C:/Users/KIIT/cowork/Aapda_AI/src/api.js</a:t>
            </a:r>
          </a:p>
          <a:p xmlns:a="http://schemas.openxmlformats.org/drawingml/2006/main">
            <a:r>
              <a:t>- C:/Users/KIIT/cowork/Aapda_AI/DEPLOY.md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C:/Users/KIIT/cowork/aapdaai-backend/app/main.py</a:t>
            </a:r>
          </a:p>
          <a:p xmlns:a="http://schemas.openxmlformats.org/drawingml/2006/main">
            <a:r>
              <a:t>- C:/Users/KIIT/cowork/aapdaai-backend/app/resources.py</a:t>
            </a:r>
          </a:p>
          <a:p xmlns:a="http://schemas.openxmlformats.org/drawingml/2006/main">
            <a:r>
              <a:t>- C:/Users/KIIT/cowork/Aapda_AI/src/IncidentMap.jsx</a:t>
            </a:r>
          </a:p>
          <a:p xmlns:a="http://schemas.openxmlformats.org/drawingml/2006/main">
            <a:r>
              <a:t>- C:/Users/KIIT/cowork/Aapda_AI/src/App.jsx</a:t>
            </a:r>
          </a:p>
          <a:p xmlns:a="http://schemas.openxmlformats.org/drawingml/2006/main">
            <a:r>
              <a:t>- C:/Users/KIIT/cowork/Aapda_AI/DEPLOY.md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C:/Users/KIIT/cowork/aapdaai-backend/app/main.py</a:t>
            </a:r>
          </a:p>
          <a:p xmlns:a="http://schemas.openxmlformats.org/drawingml/2006/main">
            <a:r>
              <a:t>- C:/Users/KIIT/cowork/aapdaai-backend/app/resources.py</a:t>
            </a:r>
          </a:p>
          <a:p xmlns:a="http://schemas.openxmlformats.org/drawingml/2006/main">
            <a:r>
              <a:t>- C:/Users/KIIT/cowork/Aapda_AI/src/App.jsx</a:t>
            </a:r>
          </a:p>
          <a:p xmlns:a="http://schemas.openxmlformats.org/drawingml/2006/main">
            <a:r>
              <a:t>- C:/Users/KIIT/cowork/aapdaai-backend/render.yaml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C:/Users/KIIT/cowork/aapdaai-backend/app/main.py</a:t>
            </a:r>
          </a:p>
          <a:p xmlns:a="http://schemas.openxmlformats.org/drawingml/2006/main">
            <a:r>
              <a:t>- C:/Users/KIIT/cowork/aapdaai-backend/app/db.py</a:t>
            </a:r>
          </a:p>
          <a:p xmlns:a="http://schemas.openxmlformats.org/drawingml/2006/main">
            <a:r>
              <a:t>- C:/Users/KIIT/cowork/aapdaai-backend/app/config.py</a:t>
            </a:r>
          </a:p>
          <a:p xmlns:a="http://schemas.openxmlformats.org/drawingml/2006/main">
            <a:r>
              <a:t>- C:/Users/KIIT/cowork/Aapda_AI/src/App.jsx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C:/Users/KIIT/cowork/aapdaai-backend/app/main.py</a:t>
            </a:r>
          </a:p>
          <a:p xmlns:a="http://schemas.openxmlformats.org/drawingml/2006/main">
            <a:r>
              <a:t>- C:/Users/KIIT/cowork/aapdaai-backend/app/resources.py</a:t>
            </a:r>
          </a:p>
          <a:p xmlns:a="http://schemas.openxmlformats.org/drawingml/2006/main">
            <a:r>
              <a:t>- C:/Users/KIIT/cowork/Aapda_AI/src/App.jsx</a:t>
            </a:r>
          </a:p>
          <a:p xmlns:a="http://schemas.openxmlformats.org/drawingml/2006/main">
            <a:r>
              <a:t>- C:/Users/KIIT/cowork/aapdaai-backend/app/db.py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C:/Users/KIIT/cowork/aapdaai-backend/app/main.py</a:t>
            </a:r>
          </a:p>
          <a:p xmlns:a="http://schemas.openxmlformats.org/drawingml/2006/main">
            <a:r>
              <a:t>- C:/Users/KIIT/cowork/aapdaai-backend/app/db.py</a:t>
            </a:r>
          </a:p>
          <a:p xmlns:a="http://schemas.openxmlformats.org/drawingml/2006/main">
            <a:r>
              <a:t>- C:/Users/KIIT/cowork/aapdaai-backend/app/resources.py</a:t>
            </a:r>
          </a:p>
          <a:p xmlns:a="http://schemas.openxmlformats.org/drawingml/2006/main">
            <a:r>
              <a:t>- C:/Users/KIIT/cowork/Aapda_AI/src/App.jsx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C:/Users/KIIT/cowork/aapdaai-backend/app/main.py</a:t>
            </a:r>
          </a:p>
          <a:p xmlns:a="http://schemas.openxmlformats.org/drawingml/2006/main">
            <a:r>
              <a:t>- C:/Users/KIIT/cowork/aapdaai-backend/app/pipeline.py</a:t>
            </a:r>
          </a:p>
          <a:p xmlns:a="http://schemas.openxmlformats.org/drawingml/2006/main">
            <a:r>
              <a:t>- C:/Users/KIIT/cowork/aapdaai-backend/app/db.py</a:t>
            </a:r>
          </a:p>
          <a:p xmlns:a="http://schemas.openxmlformats.org/drawingml/2006/main">
            <a:r>
              <a:t>- C:/Users/KIIT/cowork/Aapda_AI/src/App.jsx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C:/Users/KIIT/cowork/aapdaai-backend/app/main.py</a:t>
            </a:r>
          </a:p>
          <a:p xmlns:a="http://schemas.openxmlformats.org/drawingml/2006/main">
            <a:r>
              <a:t>- C:/Users/KIIT/cowork/aapdaai-backend/app/extract.py</a:t>
            </a:r>
          </a:p>
          <a:p xmlns:a="http://schemas.openxmlformats.org/drawingml/2006/main">
            <a:r>
              <a:t>- C:/Users/KIIT/cowork/aapdaai-backend/app/pipeline.py</a:t>
            </a:r>
          </a:p>
          <a:p xmlns:a="http://schemas.openxmlformats.org/drawingml/2006/main">
            <a:r>
              <a:t>- C:/Users/KIIT/cowork/aapdaai-backend/app/compute.py</a:t>
            </a:r>
          </a:p>
          <a:p xmlns:a="http://schemas.openxmlformats.org/drawingml/2006/main">
            <a:r>
              <a:t>- C:/Users/KIIT/cowork/aapdaai-backend/app/db.py</a:t>
            </a:r>
          </a:p>
          <a:p xmlns:a="http://schemas.openxmlformats.org/drawingml/2006/main">
            <a:r>
              <a:t>- C:/Users/KIIT/cowork/Aapda_AI/src/api.js</a:t>
            </a:r>
          </a:p>
          <a:p xmlns:a="http://schemas.openxmlformats.org/drawingml/2006/main">
            <a:r>
              <a:t>- C:/Users/KIIT/cowork/Aapda_AI/src/TriageQueue.jsx</a:t>
            </a:r>
          </a:p>
          <a:p xmlns:a="http://schemas.openxmlformats.org/drawingml/2006/main">
            <a:r>
              <a:t>- C:/Users/KIIT/cowork/Aapda_AI/src/OperatorActions.jsx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C:/Users/KIIT/cowork/aapdaai-backend/app/main.py</a:t>
            </a:r>
          </a:p>
          <a:p xmlns:a="http://schemas.openxmlformats.org/drawingml/2006/main">
            <a:r>
              <a:t>- C:/Users/KIIT/cowork/aapdaai-backend/app/pipeline.py</a:t>
            </a:r>
          </a:p>
          <a:p xmlns:a="http://schemas.openxmlformats.org/drawingml/2006/main">
            <a:r>
              <a:t>- C:/Users/KIIT/cowork/Aapda_AI/src/App.jsx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C:/Users/KIIT/cowork/Aapda_AI/package.json</a:t>
            </a:r>
          </a:p>
          <a:p xmlns:a="http://schemas.openxmlformats.org/drawingml/2006/main">
            <a:r>
              <a:t>- C:/Users/KIIT/cowork/aapdaai-backend/requirements.txt</a:t>
            </a:r>
          </a:p>
          <a:p xmlns:a="http://schemas.openxmlformats.org/drawingml/2006/main">
            <a:r>
              <a:t>- C:/Users/KIIT/cowork/aapdaai-backend/render.yaml</a:t>
            </a:r>
          </a:p>
          <a:p xmlns:a="http://schemas.openxmlformats.org/drawingml/2006/main">
            <a:r>
              <a:t>- C:/Users/KIIT/cowork/aapdaai-backend/app/llm.py</a:t>
            </a:r>
          </a:p>
          <a:p xmlns:a="http://schemas.openxmlformats.org/drawingml/2006/main">
            <a:r>
              <a:t>- C:/Users/KIIT/cowork/aapdaai-backend/app/main.py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5ba8ff18064e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9c2294d52d4477" /><Relationship Type="http://schemas.openxmlformats.org/officeDocument/2006/relationships/slideLayout" Target="/ppt/slideLayouts/slideLayout1.xml" Id="Rc7ffd4801ab54c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ffd4801ab54c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64888dd394b5a" /><Relationship Type="http://schemas.openxmlformats.org/officeDocument/2006/relationships/notesSlide" Target="/ppt/notesSlides/notesSlide1.xml" Id="R870aa7f04ce840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34a6277de4004" /><Relationship Type="http://schemas.openxmlformats.org/officeDocument/2006/relationships/notesSlide" Target="/ppt/notesSlides/notesSlide2.xml" Id="Rd66238200db44f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9b41ea1a5441a" /><Relationship Type="http://schemas.openxmlformats.org/officeDocument/2006/relationships/notesSlide" Target="/ppt/notesSlides/notesSlide3.xml" Id="R6cb47928363a45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77817c3e046bc" /><Relationship Type="http://schemas.openxmlformats.org/officeDocument/2006/relationships/notesSlide" Target="/ppt/notesSlides/notesSlide4.xml" Id="Rf252f3b62c5b4b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923fe24ec479b" /><Relationship Type="http://schemas.openxmlformats.org/officeDocument/2006/relationships/notesSlide" Target="/ppt/notesSlides/notesSlide5.xml" Id="R7f977f7e451e4d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4f844bf23447a" /><Relationship Type="http://schemas.openxmlformats.org/officeDocument/2006/relationships/notesSlide" Target="/ppt/notesSlides/notesSlide6.xml" Id="Racde14c4d04d4d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39cb9390d4dd4" /><Relationship Type="http://schemas.openxmlformats.org/officeDocument/2006/relationships/notesSlide" Target="/ppt/notesSlides/notesSlide7.xml" Id="R3e641d86007f49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4966e03f5493f" /><Relationship Type="http://schemas.openxmlformats.org/officeDocument/2006/relationships/notesSlide" Target="/ppt/notesSlides/notesSlide8.xml" Id="Rce466fdf47bf4b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cb3ecc5184773" /><Relationship Type="http://schemas.openxmlformats.org/officeDocument/2006/relationships/notesSlide" Target="/ppt/notesSlides/notesSlide9.xml" Id="Re3501483324449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723e81cf94be6" /><Relationship Type="http://schemas.openxmlformats.org/officeDocument/2006/relationships/notesSlide" Target="/ppt/notesSlides/notesSlide10.xml" Id="Rec1c95b9131c4e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545f104474c80" /><Relationship Type="http://schemas.openxmlformats.org/officeDocument/2006/relationships/notesSlide" Target="/ppt/notesSlides/notesSlide11.xml" Id="R22e779be98a54d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08773d38a4d16" /><Relationship Type="http://schemas.openxmlformats.org/officeDocument/2006/relationships/notesSlide" Target="/ppt/notesSlides/notesSlide12.xml" Id="Rcb8e10c2bc794f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0466dc33f4c5a" /><Relationship Type="http://schemas.openxmlformats.org/officeDocument/2006/relationships/notesSlide" Target="/ppt/notesSlides/notesSlide13.xml" Id="Rb938a15ac54d40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2abe0fe594d98" /><Relationship Type="http://schemas.openxmlformats.org/officeDocument/2006/relationships/notesSlide" Target="/ppt/notesSlides/notesSlide14.xml" Id="Rbec3ac9fbd3641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030b0c09b401a" /><Relationship Type="http://schemas.openxmlformats.org/officeDocument/2006/relationships/notesSlide" Target="/ppt/notesSlides/notesSlide15.xml" Id="R93b30410d89b460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983cfb5464633" /><Relationship Type="http://schemas.openxmlformats.org/officeDocument/2006/relationships/notesSlide" Target="/ppt/notesSlides/notesSlide16.xml" Id="R60496a3f9d6849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cf9143c97468d" /><Relationship Type="http://schemas.openxmlformats.org/officeDocument/2006/relationships/notesSlide" Target="/ppt/notesSlides/notesSlide17.xml" Id="R4324f4532e5449c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30d7211db47c5" /><Relationship Type="http://schemas.openxmlformats.org/officeDocument/2006/relationships/notesSlide" Target="/ppt/notesSlides/notesSlide18.xml" Id="R70390b7edbe847f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32b0dba744bdf" /><Relationship Type="http://schemas.openxmlformats.org/officeDocument/2006/relationships/notesSlide" Target="/ppt/notesSlides/notesSlide19.xml" Id="R4313656caa2045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0277409704955" /><Relationship Type="http://schemas.openxmlformats.org/officeDocument/2006/relationships/notesSlide" Target="/ppt/notesSlides/notesSlide20.xml" Id="Rf7f456d4471f4c3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aafbfc7414a09" /><Relationship Type="http://schemas.openxmlformats.org/officeDocument/2006/relationships/notesSlide" Target="/ppt/notesSlides/notesSlide21.xml" Id="Rc0af99c69bc240b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34e79aae54deb" /><Relationship Type="http://schemas.openxmlformats.org/officeDocument/2006/relationships/notesSlide" Target="/ppt/notesSlides/notesSlide22.xml" Id="R63b5df7b5490435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a36507cd04f27" /><Relationship Type="http://schemas.openxmlformats.org/officeDocument/2006/relationships/notesSlide" Target="/ppt/notesSlides/notesSlide23.xml" Id="R4cafb33f0d0245b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6c2e723884bfa" /><Relationship Type="http://schemas.openxmlformats.org/officeDocument/2006/relationships/notesSlide" Target="/ppt/notesSlides/notesSlide24.xml" Id="R7e446274e9e14a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919A3-E892-487B-925E-B1E61B01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F7FAFC"/>
                </a:solidFill>
              </a:defRPr>
            </a:pPr>
            <a:r>
              <a:rPr sz="4800" b="1" i="0">
                <a:solidFill>
                  <a:srgbClr val="F7FAFC"/>
                </a:solidFill>
              </a:rPr>
              <a:t>AAPDAAI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1A534-2F8E-4C7E-97E3-59994A6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A9B7C7"/>
                </a:solidFill>
              </a:defRPr>
            </a:pPr>
            <a:r>
              <a:rPr sz="1800" b="0" i="0">
                <a:solidFill>
                  <a:srgbClr val="A9B7C7"/>
                </a:solidFill>
              </a:rPr>
              <a:t>From disaster report to actionable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86641-A570-4DFE-9909-B1FD2CCA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7A6E"/>
            </a:solidFill>
            <a:prstDash val="solid"/>
          </a:ln>
        </p:spPr>
      </p:sp>
      <p:sp>
        <p:nvSpPr>
          <p:cNvPr id="4" name="CITIZEN">
            <a:extLst xmlns:a="http://schemas.openxmlformats.org/drawingml/2006/main">
              <a:ext uri="{FF2B5EF4-FFF2-40B4-BE49-F238E27FC236}">
                <a16:creationId xmlns:a16="http://schemas.microsoft.com/office/drawing/2014/main" id="{AEE46FB9-F6CB-4112-814C-CA5728E9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714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CITIZEN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person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2A569-934E-4FBA-A2E3-2DCB7BE2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PORT">
            <a:extLst xmlns:a="http://schemas.openxmlformats.org/drawingml/2006/main">
              <a:ext uri="{FF2B5EF4-FFF2-40B4-BE49-F238E27FC236}">
                <a16:creationId xmlns:a16="http://schemas.microsoft.com/office/drawing/2014/main" id="{EF02B557-C481-43C6-9F65-E4DD6081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1714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REPORT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WhatsApp / 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AB0A3-A0C2-40B7-B096-34E5F744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APDAAI">
            <a:extLst xmlns:a="http://schemas.openxmlformats.org/drawingml/2006/main">
              <a:ext uri="{FF2B5EF4-FFF2-40B4-BE49-F238E27FC236}">
                <a16:creationId xmlns:a16="http://schemas.microsoft.com/office/drawing/2014/main" id="{E2AA2799-798F-4308-96E7-CADCD997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29000"/>
            <a:ext cx="1905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AAPDAAI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FastAPI +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3CC4B-769C-4475-810C-AED59E16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290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TELLIGENCE">
            <a:extLst xmlns:a="http://schemas.openxmlformats.org/drawingml/2006/main">
              <a:ext uri="{FF2B5EF4-FFF2-40B4-BE49-F238E27FC236}">
                <a16:creationId xmlns:a16="http://schemas.microsoft.com/office/drawing/2014/main" id="{7A29BD10-E533-4428-BCB4-1194BBC6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29000"/>
            <a:ext cx="1905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INTELLIGENCE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ranked incidents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8B0FE-2F3F-467B-AFAB-38817662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290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CISION">
            <a:extLst xmlns:a="http://schemas.openxmlformats.org/drawingml/2006/main">
              <a:ext uri="{FF2B5EF4-FFF2-40B4-BE49-F238E27FC236}">
                <a16:creationId xmlns:a16="http://schemas.microsoft.com/office/drawing/2014/main" id="{D9553F18-04CB-42AB-9E4F-328CF86C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429000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DECISION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human authority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E38E2-2AD2-4368-AABE-44F1159E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4290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00300" y="38481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86300" y="38481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62800" y="38481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39300" y="38481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6C85F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B76F3-886F-496D-AE93-9936EDA8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7FAFC"/>
                </a:solidFill>
              </a:defRPr>
            </a:pPr>
            <a:r>
              <a:rPr sz="1500" b="1" i="0">
                <a:solidFill>
                  <a:srgbClr val="F7FAFC"/>
                </a:solidFill>
              </a:rPr>
              <a:t>A visual tour of the system we actually built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C3CF2-A9DD-4E7F-B7A1-F49F6941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AF4A31-A51E-458C-91EF-E24E1395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97491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6DA19D-8B52-4DDA-8066-473E96AC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01 / WHY THIS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79088-D083-4F95-97C1-6FC7D223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Disaster information arrives as fragments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C70B8-B1F1-4A65-9631-9C42851E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MESSAGE">
            <a:extLst xmlns:a="http://schemas.openxmlformats.org/drawingml/2006/main">
              <a:ext uri="{FF2B5EF4-FFF2-40B4-BE49-F238E27FC236}">
                <a16:creationId xmlns:a16="http://schemas.microsoft.com/office/drawing/2014/main" id="{187545BD-6088-43FF-8046-93AF6834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MESSAGE</a:t>
            </a:r>
          </a:p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"Flood near village"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FA78D-5F54-4C4C-AB69-7CA07719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B554B-27F8-434A-871E-7C231CB9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717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4" idx="2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814513" y="2438400"/>
            <a:ext cx="168082" cy="1347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B52"/>
            </a:solidFill>
            <a:prstDash val="solid"/>
            <a:tailEnd type="triangle" w="sm" len="sm"/>
          </a:ln>
        </p:spPr>
      </p:cxnSp>
      <p:sp>
        <p:nvSpPr>
          <p:cNvPr id="8" name="MESSAGE">
            <a:extLst xmlns:a="http://schemas.openxmlformats.org/drawingml/2006/main">
              <a:ext uri="{FF2B5EF4-FFF2-40B4-BE49-F238E27FC236}">
                <a16:creationId xmlns:a16="http://schemas.microsoft.com/office/drawing/2014/main" id="{437378E7-C445-4BB8-B7C9-1563B34B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MESSAGE</a:t>
            </a:r>
          </a:p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"Need food"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369CB-7C3F-433F-B77F-B91CF3A5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D0B03-0A93-482D-9621-E719F40C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1" name=""/>
          <p:cNvCxnSpPr>
            <a:stCxn xmlns:a="http://schemas.openxmlformats.org/drawingml/2006/main" id="8" idx="2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100513" y="2438400"/>
            <a:ext cx="168082" cy="1347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B52"/>
            </a:solidFill>
            <a:prstDash val="solid"/>
            <a:tailEnd type="triangle" w="sm" len="sm"/>
          </a:ln>
        </p:spPr>
      </p:cxnSp>
      <p:sp>
        <p:nvSpPr>
          <p:cNvPr id="12" name="MESSAGE">
            <a:extLst xmlns:a="http://schemas.openxmlformats.org/drawingml/2006/main">
              <a:ext uri="{FF2B5EF4-FFF2-40B4-BE49-F238E27FC236}">
                <a16:creationId xmlns:a16="http://schemas.microsoft.com/office/drawing/2014/main" id="{F87FC2B8-D726-4EF8-A585-97CD82CB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907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MESSAGE</a:t>
            </a:r>
          </a:p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"Road blocked"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4661D-1F3E-43B1-AE1E-A09C830A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907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EE607-2905-4B40-8043-8290B29D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717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5" name=""/>
          <p:cNvCxnSpPr>
            <a:stCxn xmlns:a="http://schemas.openxmlformats.org/drawingml/2006/main" id="12" idx="2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386513" y="2438400"/>
            <a:ext cx="168082" cy="1347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B52"/>
            </a:solidFill>
            <a:prstDash val="solid"/>
            <a:tailEnd type="triangle" w="sm" len="sm"/>
          </a:ln>
        </p:spPr>
      </p:cxnSp>
      <p:sp>
        <p:nvSpPr>
          <p:cNvPr id="16" name="MESSAGE">
            <a:extLst xmlns:a="http://schemas.openxmlformats.org/drawingml/2006/main">
              <a:ext uri="{FF2B5EF4-FFF2-40B4-BE49-F238E27FC236}">
                <a16:creationId xmlns:a16="http://schemas.microsoft.com/office/drawing/2014/main" id="{1F29D2ED-A92B-4E10-A4E2-450129E3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MESSAGE</a:t>
            </a:r>
          </a:p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"People stranded"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8093CA-5256-4F9E-8A00-947D740F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08B2A-2EE0-4DA9-A022-B37BA9F0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671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9" name=""/>
          <p:cNvCxnSpPr>
            <a:stCxn xmlns:a="http://schemas.openxmlformats.org/drawingml/2006/main" id="16" idx="2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814513" y="3333750"/>
            <a:ext cx="168082" cy="1347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B52"/>
            </a:solidFill>
            <a:prstDash val="solid"/>
            <a:tailEnd type="triangle" w="sm" len="sm"/>
          </a:ln>
        </p:spPr>
      </p:cxnSp>
      <p:sp>
        <p:nvSpPr>
          <p:cNvPr id="20" name="MESSAGE">
            <a:extLst xmlns:a="http://schemas.openxmlformats.org/drawingml/2006/main">
              <a:ext uri="{FF2B5EF4-FFF2-40B4-BE49-F238E27FC236}">
                <a16:creationId xmlns:a16="http://schemas.microsoft.com/office/drawing/2014/main" id="{4F636620-3BB2-4009-B38B-FED7C260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8605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MESSAGE</a:t>
            </a:r>
          </a:p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"Medical help needed"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B75F9B-91CE-482C-9A99-4B726F20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860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CC4F2E-5F14-4B57-A658-50B6BBFD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24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7A6E"/>
                </a:solidFill>
              </a:defRPr>
            </a:pPr>
            <a:r>
              <a:rPr sz="1650" b="1" i="0">
                <a:solidFill>
                  <a:srgbClr val="FF7A6E"/>
                </a:solidFill>
              </a:rPr>
              <a:t>SCATTERED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A73F0-882E-478C-9D79-53666714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A9B7C7"/>
                </a:solidFill>
              </a:defRPr>
            </a:pPr>
            <a:r>
              <a:rPr sz="1575" b="0" i="0">
                <a:solidFill>
                  <a:srgbClr val="A9B7C7"/>
                </a:solidFill>
              </a:rPr>
              <a:t>delayed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70FE31-C33C-4FAD-841F-8FE2D5D8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A9B7C7"/>
                </a:solidFill>
              </a:defRPr>
            </a:pPr>
            <a:r>
              <a:rPr sz="1575" b="0" i="0">
                <a:solidFill>
                  <a:srgbClr val="A9B7C7"/>
                </a:solidFill>
              </a:rPr>
              <a:t>incomplete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F46B0-66B3-47D0-94C5-BACE0DF6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7A6E"/>
            </a:solidFill>
            <a:prstDash val="solid"/>
          </a:ln>
        </p:spPr>
      </p:sp>
      <p:sp>
        <p:nvSpPr>
          <p:cNvPr id="26" name="ONE OPERATIONAL PICTURE">
            <a:extLst xmlns:a="http://schemas.openxmlformats.org/drawingml/2006/main">
              <a:ext uri="{FF2B5EF4-FFF2-40B4-BE49-F238E27FC236}">
                <a16:creationId xmlns:a16="http://schemas.microsoft.com/office/drawing/2014/main" id="{31BA9BAE-55B1-47D2-B539-125257B2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00550"/>
            <a:ext cx="47625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ONE OPERATIONAL PICTURE</a:t>
            </a:r>
          </a:p>
          <a:p xmlns:a="http://schemas.openxmlformats.org/drawingml/2006/main">
            <a:pPr algn="ctr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incident + confidence + need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A1DD0D-EC8D-4473-AD40-5A1E64A6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0055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CF8C9D-0563-4025-8FC4-413B729E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7FAFC"/>
                </a:solidFill>
              </a:defRPr>
            </a:pPr>
            <a:r>
              <a:rPr sz="1500" b="1" i="0">
                <a:solidFill>
                  <a:srgbClr val="F7FAFC"/>
                </a:solidFill>
              </a:rPr>
              <a:t>The backend turns separate voices into one queue a decision maker can act 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27C19D-FD91-4A00-9EA4-AC42E0A5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7AB720-CE10-4565-8EE2-D605EC81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48384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4932CD-EEA8-43C6-8940-8E73982A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02 / THE BUILT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47F11-D9CB-4A1D-9764-44FF3856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AapdaAI connects intake, reasoning, storage, and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FAA3E-8510-4810-8F0C-D907A145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CITIZEN">
            <a:extLst xmlns:a="http://schemas.openxmlformats.org/drawingml/2006/main">
              <a:ext uri="{FF2B5EF4-FFF2-40B4-BE49-F238E27FC236}">
                <a16:creationId xmlns:a16="http://schemas.microsoft.com/office/drawing/2014/main" id="{FC2B4612-C0AF-41A0-8610-510466D9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619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CITIZEN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WhatsApp / web 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3D511-48A7-45E5-A528-75988AF8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A">
            <a:extLst xmlns:a="http://schemas.openxmlformats.org/drawingml/2006/main">
              <a:ext uri="{FF2B5EF4-FFF2-40B4-BE49-F238E27FC236}">
                <a16:creationId xmlns:a16="http://schemas.microsoft.com/office/drawing/2014/main" id="{6883F048-7824-4AA1-9594-F61FF22C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META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WhatsApp webhook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A6B79-C2BC-43AD-83AA-1F9813B3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ACKEND">
            <a:extLst xmlns:a="http://schemas.openxmlformats.org/drawingml/2006/main">
              <a:ext uri="{FF2B5EF4-FFF2-40B4-BE49-F238E27FC236}">
                <a16:creationId xmlns:a16="http://schemas.microsoft.com/office/drawing/2014/main" id="{6338120F-84C0-42CC-B589-FC34AC5C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BACKEND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FastAPI 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9AC8C-A24F-4928-991C-7DE3FB1D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ATABASE">
            <a:extLst xmlns:a="http://schemas.openxmlformats.org/drawingml/2006/main">
              <a:ext uri="{FF2B5EF4-FFF2-40B4-BE49-F238E27FC236}">
                <a16:creationId xmlns:a16="http://schemas.microsoft.com/office/drawing/2014/main" id="{82768CD9-26B2-4757-95FA-5BE951EF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14500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DATABASE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SQLite / Postgres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ED247-252E-4104-9D5A-3E22E0D8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145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ST API">
            <a:extLst xmlns:a="http://schemas.openxmlformats.org/drawingml/2006/main">
              <a:ext uri="{FF2B5EF4-FFF2-40B4-BE49-F238E27FC236}">
                <a16:creationId xmlns:a16="http://schemas.microsoft.com/office/drawing/2014/main" id="{CEA3D6A8-09FD-405E-AF64-60F50353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38500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REST API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GET + POST + PATCH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0EF61-3FC8-4190-947C-6467DE31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385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ASHBOARD">
            <a:extLst xmlns:a="http://schemas.openxmlformats.org/drawingml/2006/main">
              <a:ext uri="{FF2B5EF4-FFF2-40B4-BE49-F238E27FC236}">
                <a16:creationId xmlns:a16="http://schemas.microsoft.com/office/drawing/2014/main" id="{4F034A19-5A6A-453E-A2DC-A10381D8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76500"/>
            <a:ext cx="1619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DASHBOARD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React operator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519BE8-9028-4BCB-81D8-E3A9E18D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765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81250" y="2895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67250" y="2895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239000" y="2133600"/>
            <a:ext cx="49530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FA5FF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239000" y="2895600"/>
            <a:ext cx="49530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9544050" y="2895600"/>
            <a:ext cx="43815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4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239000" y="2895600"/>
            <a:ext cx="2743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6C85F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FE293-A959-4F98-9B91-EB09F463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7FAFC"/>
                </a:solidFill>
              </a:defRPr>
            </a:pPr>
            <a:r>
              <a:rPr sz="1650" b="1" i="0">
                <a:solidFill>
                  <a:srgbClr val="F7FAFC"/>
                </a:solidFill>
              </a:rPr>
              <a:t>The same incident state powers triage, verification, dispatch, and follow-up.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7406F1-3866-45C5-A3B1-A7568ABA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29250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45D4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D483"/>
                </a:solidFill>
              </a:defRPr>
            </a:pPr>
            <a:r>
              <a:rPr sz="975" b="1">
                <a:solidFill>
                  <a:srgbClr val="45D483"/>
                </a:solidFill>
              </a:rPr>
              <a:t>IMPLEMENTED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95C4DE-75D4-448B-9DEC-502D5E58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29250"/>
            <a:ext cx="2286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85F"/>
                </a:solidFill>
              </a:defRPr>
            </a:pPr>
            <a:r>
              <a:rPr sz="975" b="1">
                <a:solidFill>
                  <a:srgbClr val="F6C85F"/>
                </a:solidFill>
              </a:rPr>
              <a:t>HUMAN-IN-THE-LOOP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888F3D-3901-4CA3-B3B7-1732A8A0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43BA10-B95D-4529-BFC9-0E2C6856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8792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94E6C5-BCD7-440E-8AB5-4002DE9A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03 /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84C53-A4D2-4B1E-9086-E508018E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The master map: two entry points, one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0A2CE-2078-472E-9449-7BD4A099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2375B-C88F-49EF-B754-5E5D5B34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F1929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DE690-CBB5-448E-BF49-2E6A6F64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D6E6"/>
                </a:solidFill>
              </a:defRPr>
            </a:pPr>
            <a:r>
              <a:rPr sz="1050" b="1" i="0">
                <a:solidFill>
                  <a:srgbClr val="55D6E6"/>
                </a:solidFill>
              </a:rPr>
              <a:t>USERS</a:t>
            </a:r>
          </a:p>
        </p:txBody>
      </p:sp>
      <p:sp>
        <p:nvSpPr>
          <p:cNvPr id="6" name="CITIZEN">
            <a:extLst xmlns:a="http://schemas.openxmlformats.org/drawingml/2006/main">
              <a:ext uri="{FF2B5EF4-FFF2-40B4-BE49-F238E27FC236}">
                <a16:creationId xmlns:a16="http://schemas.microsoft.com/office/drawing/2014/main" id="{E646BFAC-EEB0-4DE7-95F7-0CE3EAE8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CITIZEN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WhatsApp / 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AC2BF-BCA4-4248-BC20-DFE6F0A5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UTHORITY">
            <a:extLst xmlns:a="http://schemas.openxmlformats.org/drawingml/2006/main">
              <a:ext uri="{FF2B5EF4-FFF2-40B4-BE49-F238E27FC236}">
                <a16:creationId xmlns:a16="http://schemas.microsoft.com/office/drawing/2014/main" id="{6F10E9D3-3784-4F32-98FA-64A7A33E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AUTHORITY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React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A56B0-5589-499F-9FAE-2F8E908C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TAKE">
            <a:extLst xmlns:a="http://schemas.openxmlformats.org/drawingml/2006/main">
              <a:ext uri="{FF2B5EF4-FFF2-40B4-BE49-F238E27FC236}">
                <a16:creationId xmlns:a16="http://schemas.microsoft.com/office/drawing/2014/main" id="{ADA6294B-1105-4E74-B32B-4B7EE7B0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INTAKE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POST /webhook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POST /reports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E3E1F-7D05-41A0-923B-D8B402FB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CESSING">
            <a:extLst xmlns:a="http://schemas.openxmlformats.org/drawingml/2006/main">
              <a:ext uri="{FF2B5EF4-FFF2-40B4-BE49-F238E27FC236}">
                <a16:creationId xmlns:a16="http://schemas.microsoft.com/office/drawing/2014/main" id="{BDAC9D9E-51B0-427C-A582-63217B10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52650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PROCESSING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extract -&gt; cluster -&gt;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54D58-6794-4859-AE74-B787ED03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526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ORAGE">
            <a:extLst xmlns:a="http://schemas.openxmlformats.org/drawingml/2006/main">
              <a:ext uri="{FF2B5EF4-FFF2-40B4-BE49-F238E27FC236}">
                <a16:creationId xmlns:a16="http://schemas.microsoft.com/office/drawing/2014/main" id="{5772231F-0232-4C0D-B3E9-CE0E1078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STORAGE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raw + derived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72254-51EC-4F21-AB15-BAA840BB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ST API">
            <a:extLst xmlns:a="http://schemas.openxmlformats.org/drawingml/2006/main">
              <a:ext uri="{FF2B5EF4-FFF2-40B4-BE49-F238E27FC236}">
                <a16:creationId xmlns:a16="http://schemas.microsoft.com/office/drawing/2014/main" id="{FCD962E6-F880-42E4-B287-8828C10E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REST API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ranked incidents + 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80C59-4C07-4926-85BD-505694BD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724150" y="25050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334000" y="25050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286750" y="25050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A5FF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7096125" y="2857500"/>
            <a:ext cx="2762250" cy="1485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6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2724150" y="4695825"/>
            <a:ext cx="3181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6C85F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724150" y="4695825"/>
            <a:ext cx="3181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6C85F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FDEFF3-E2E0-45C8-9BC7-A74148F1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337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1">
                <a:solidFill>
                  <a:srgbClr val="A9B7C7"/>
                </a:solidFill>
              </a:defRPr>
            </a:pPr>
            <a:r>
              <a:rPr sz="900" b="0" i="1">
                <a:solidFill>
                  <a:srgbClr val="A9B7C7"/>
                </a:solidFill>
              </a:rPr>
              <a:t>app/main.py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B1E0A6-F739-4635-8582-1CECA19F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33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1">
                <a:solidFill>
                  <a:srgbClr val="A9B7C7"/>
                </a:solidFill>
              </a:defRPr>
            </a:pPr>
            <a:r>
              <a:rPr sz="900" b="0" i="1">
                <a:solidFill>
                  <a:srgbClr val="A9B7C7"/>
                </a:solidFill>
              </a:rPr>
              <a:t>app/pipeline.py + app/compute.py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CD9F28-04F5-461A-A823-C30947B5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1">
                <a:solidFill>
                  <a:srgbClr val="A9B7C7"/>
                </a:solidFill>
              </a:defRPr>
            </a:pPr>
            <a:r>
              <a:rPr sz="900" b="0" i="1">
                <a:solidFill>
                  <a:srgbClr val="A9B7C7"/>
                </a:solidFill>
              </a:rPr>
              <a:t>app/db.py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5ED6D8-E330-42E5-A97A-0AE02C72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43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1">
                <a:solidFill>
                  <a:srgbClr val="A9B7C7"/>
                </a:solidFill>
              </a:defRPr>
            </a:pPr>
            <a:r>
              <a:rPr sz="900" b="0" i="1">
                <a:solidFill>
                  <a:srgbClr val="A9B7C7"/>
                </a:solidFill>
              </a:rPr>
              <a:t>src/api.js + src/useIncidents.js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F7380B-BC9E-402B-A713-BE7FA574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99DDBC-2C9D-436B-AE66-95220DEE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89468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01BC6F-0FC1-40F0-9F30-3253963E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04 / DATA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A4644-B787-4FB9-8FC9-CF7A3EC1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One report travels through eight concrete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1CD45-DC8C-4340-B8FE-A175457F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5EA11-44A5-483B-BB50-2F03AC85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7A6E"/>
                </a:solidFill>
              </a:defRPr>
            </a:pPr>
            <a:r>
              <a:rPr sz="1650" b="1" i="0">
                <a:solidFill>
                  <a:srgbClr val="FF7A6E"/>
                </a:solidFill>
              </a:rPr>
              <a:t>01</a:t>
            </a:r>
          </a:p>
        </p:txBody>
      </p:sp>
      <p:sp>
        <p:nvSpPr>
          <p:cNvPr id="5" name="Citizen">
            <a:extLst xmlns:a="http://schemas.openxmlformats.org/drawingml/2006/main">
              <a:ext uri="{FF2B5EF4-FFF2-40B4-BE49-F238E27FC236}">
                <a16:creationId xmlns:a16="http://schemas.microsoft.com/office/drawing/2014/main" id="{482D919F-9AFD-491E-A1B7-89B3C4AD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1952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Citizen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message or 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A1074-BECB-4A4E-BF56-AB605034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3" name=""/>
          <p:cNvCxnSpPr>
            <a:stCxn xmlns:a="http://schemas.openxmlformats.org/drawingml/2006/main" id="5" idx="0"/>
            <a:endCxn xmlns:a="http://schemas.openxmlformats.org/drawingml/2006/main" id="5" idx="0"/>
          </p:cNvCxnSpPr>
          <p:nvPr/>
        </p:nvCxnSpPr>
        <p:spPr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B52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B6819-1213-4CA4-89C9-1F5A45A4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335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7A6E"/>
                </a:solidFill>
              </a:defRPr>
            </a:pPr>
            <a:r>
              <a:rPr sz="1650" b="1" i="0">
                <a:solidFill>
                  <a:srgbClr val="FF7A6E"/>
                </a:solidFill>
              </a:rPr>
              <a:t>02</a:t>
            </a:r>
          </a:p>
        </p:txBody>
      </p:sp>
      <p:sp>
        <p:nvSpPr>
          <p:cNvPr id="9" name="WhatsApp">
            <a:extLst xmlns:a="http://schemas.openxmlformats.org/drawingml/2006/main">
              <a:ext uri="{FF2B5EF4-FFF2-40B4-BE49-F238E27FC236}">
                <a16:creationId xmlns:a16="http://schemas.microsoft.com/office/drawing/2014/main" id="{FB8F3D75-A574-4BF9-9184-DBB85320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714500"/>
            <a:ext cx="1952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WhatsApp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text / pin / media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F0BE8-26D2-464C-A327-E7432357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7145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7" name=""/>
          <p:cNvCxnSpPr>
            <a:stCxn xmlns:a="http://schemas.openxmlformats.org/drawingml/2006/main" id="9" idx="0"/>
            <a:endCxn xmlns:a="http://schemas.openxmlformats.org/drawingml/2006/main" id="9" idx="0"/>
          </p:cNvCxnSpPr>
          <p:nvPr/>
        </p:nvCxnSpPr>
        <p:spPr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B52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BCEC2-5EF5-4FEC-B620-1D256715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335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7A6E"/>
                </a:solidFill>
              </a:defRPr>
            </a:pPr>
            <a:r>
              <a:rPr sz="1650" b="1" i="0">
                <a:solidFill>
                  <a:srgbClr val="FF7A6E"/>
                </a:solidFill>
              </a:rPr>
              <a:t>03</a:t>
            </a:r>
          </a:p>
        </p:txBody>
      </p:sp>
      <p:sp>
        <p:nvSpPr>
          <p:cNvPr id="13" name="Meta">
            <a:extLst xmlns:a="http://schemas.openxmlformats.org/drawingml/2006/main">
              <a:ext uri="{FF2B5EF4-FFF2-40B4-BE49-F238E27FC236}">
                <a16:creationId xmlns:a16="http://schemas.microsoft.com/office/drawing/2014/main" id="{4822E76D-A0B7-4B16-BE14-AF5B38E0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14500"/>
            <a:ext cx="1952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Meta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HTTP webhook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80A2B-427B-46BA-A591-910EC7B2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145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1" name=""/>
          <p:cNvCxnSpPr>
            <a:stCxn xmlns:a="http://schemas.openxmlformats.org/drawingml/2006/main" id="13" idx="0"/>
            <a:endCxn xmlns:a="http://schemas.openxmlformats.org/drawingml/2006/main" id="13" idx="0"/>
          </p:cNvCxnSpPr>
          <p:nvPr/>
        </p:nvCxnSpPr>
        <p:spPr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B52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8E89C-5438-4B70-8D7F-A0ECA35D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7335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7A6E"/>
                </a:solidFill>
              </a:defRPr>
            </a:pPr>
            <a:r>
              <a:rPr sz="1650" b="1" i="0">
                <a:solidFill>
                  <a:srgbClr val="FF7A6E"/>
                </a:solidFill>
              </a:rPr>
              <a:t>04</a:t>
            </a:r>
          </a:p>
        </p:txBody>
      </p:sp>
      <p:sp>
        <p:nvSpPr>
          <p:cNvPr id="17" name="Receive">
            <a:extLst xmlns:a="http://schemas.openxmlformats.org/drawingml/2006/main">
              <a:ext uri="{FF2B5EF4-FFF2-40B4-BE49-F238E27FC236}">
                <a16:creationId xmlns:a16="http://schemas.microsoft.com/office/drawing/2014/main" id="{A4991302-32E7-435C-A19E-31328E79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714500"/>
            <a:ext cx="1952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Receive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POST /webhook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F94EB-580F-4713-BEB4-B1B11E7D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7145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AB132-9A11-47FC-8593-17D057A2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7A6E"/>
                </a:solidFill>
              </a:defRPr>
            </a:pPr>
            <a:r>
              <a:rPr sz="1650" b="1" i="0">
                <a:solidFill>
                  <a:srgbClr val="FF7A6E"/>
                </a:solidFill>
              </a:rPr>
              <a:t>05</a:t>
            </a:r>
          </a:p>
        </p:txBody>
      </p:sp>
      <p:sp>
        <p:nvSpPr>
          <p:cNvPr id="20" name="Understand">
            <a:extLst xmlns:a="http://schemas.openxmlformats.org/drawingml/2006/main">
              <a:ext uri="{FF2B5EF4-FFF2-40B4-BE49-F238E27FC236}">
                <a16:creationId xmlns:a16="http://schemas.microsoft.com/office/drawing/2014/main" id="{9E88ABD1-BD6C-47F3-9925-EA3913C8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1952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Understand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extract.py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B3E0F8-B862-40CC-AB62-179335A2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8" name=""/>
          <p:cNvCxnSpPr>
            <a:stCxn xmlns:a="http://schemas.openxmlformats.org/drawingml/2006/main" id="20" idx="0"/>
            <a:endCxn xmlns:a="http://schemas.openxmlformats.org/drawingml/2006/main" id="20" idx="0"/>
          </p:cNvCxnSpPr>
          <p:nvPr/>
        </p:nvCxnSpPr>
        <p:spPr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B52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CE2A42-4A16-427A-955E-348675E7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829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7A6E"/>
                </a:solidFill>
              </a:defRPr>
            </a:pPr>
            <a:r>
              <a:rPr sz="1650" b="1" i="0">
                <a:solidFill>
                  <a:srgbClr val="FF7A6E"/>
                </a:solidFill>
              </a:rPr>
              <a:t>06</a:t>
            </a:r>
          </a:p>
        </p:txBody>
      </p:sp>
      <p:sp>
        <p:nvSpPr>
          <p:cNvPr id="24" name="Group">
            <a:extLst xmlns:a="http://schemas.openxmlformats.org/drawingml/2006/main">
              <a:ext uri="{FF2B5EF4-FFF2-40B4-BE49-F238E27FC236}">
                <a16:creationId xmlns:a16="http://schemas.microsoft.com/office/drawing/2014/main" id="{587DEF38-6A62-4ABD-B6E4-9759E108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810000"/>
            <a:ext cx="1952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Group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incident.py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BC66B2-4C0C-4720-BF14-790B62CE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810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2" name=""/>
          <p:cNvCxnSpPr>
            <a:stCxn xmlns:a="http://schemas.openxmlformats.org/drawingml/2006/main" id="24" idx="0"/>
            <a:endCxn xmlns:a="http://schemas.openxmlformats.org/drawingml/2006/main" id="24" idx="0"/>
          </p:cNvCxnSpPr>
          <p:nvPr/>
        </p:nvCxnSpPr>
        <p:spPr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B52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1ED498-42A0-4654-8088-B6883482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29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7A6E"/>
                </a:solidFill>
              </a:defRPr>
            </a:pPr>
            <a:r>
              <a:rPr sz="1650" b="1" i="0">
                <a:solidFill>
                  <a:srgbClr val="FF7A6E"/>
                </a:solidFill>
              </a:rPr>
              <a:t>07</a:t>
            </a:r>
          </a:p>
        </p:txBody>
      </p:sp>
      <p:sp>
        <p:nvSpPr>
          <p:cNvPr id="28" name="Rank">
            <a:extLst xmlns:a="http://schemas.openxmlformats.org/drawingml/2006/main">
              <a:ext uri="{FF2B5EF4-FFF2-40B4-BE49-F238E27FC236}">
                <a16:creationId xmlns:a16="http://schemas.microsoft.com/office/drawing/2014/main" id="{7A8BF016-CD6E-4D80-8CFF-988F04E6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10000"/>
            <a:ext cx="1952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Rank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compute.py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27083B-E910-47E8-898A-089AEB8C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10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6" name=""/>
          <p:cNvCxnSpPr>
            <a:stCxn xmlns:a="http://schemas.openxmlformats.org/drawingml/2006/main" id="28" idx="0"/>
            <a:endCxn xmlns:a="http://schemas.openxmlformats.org/drawingml/2006/main" id="28" idx="0"/>
          </p:cNvCxnSpPr>
          <p:nvPr/>
        </p:nvCxnSpPr>
        <p:spPr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B52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10750B-2352-467F-808A-453D0A9B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29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7A6E"/>
                </a:solidFill>
              </a:defRPr>
            </a:pPr>
            <a:r>
              <a:rPr sz="1650" b="1" i="0">
                <a:solidFill>
                  <a:srgbClr val="FF7A6E"/>
                </a:solidFill>
              </a:rPr>
              <a:t>08</a:t>
            </a:r>
          </a:p>
        </p:txBody>
      </p:sp>
      <p:sp>
        <p:nvSpPr>
          <p:cNvPr id="32" name="See">
            <a:extLst xmlns:a="http://schemas.openxmlformats.org/drawingml/2006/main">
              <a:ext uri="{FF2B5EF4-FFF2-40B4-BE49-F238E27FC236}">
                <a16:creationId xmlns:a16="http://schemas.microsoft.com/office/drawing/2014/main" id="{34480894-BC32-494A-82FA-056CE21D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810000"/>
            <a:ext cx="1952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See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dashboard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8924AE-1146-47AE-AB4D-68E15227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810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FECFB1-8777-484D-856C-60186596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53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7FAFC"/>
                </a:solidFill>
              </a:defRPr>
            </a:pPr>
            <a:r>
              <a:rPr sz="1725" b="1" i="0">
                <a:solidFill>
                  <a:srgbClr val="F7FAFC"/>
                </a:solidFill>
              </a:rPr>
              <a:t>Raw message in. Ranked, inspectable incident out.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C0B5A3-096C-40E8-98EA-D3C66522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6F647A-4B51-4D1A-855B-21FE224E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57295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949670-203B-4754-9147-02749252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05 / WHATSAPP -&gt; BACKEND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D1863-E77F-4A46-9264-B5A91D13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The webhook is intentionally fast and narrow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DB383-D3EF-44BA-BE70-BB64265C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WHATSAPP">
            <a:extLst xmlns:a="http://schemas.openxmlformats.org/drawingml/2006/main">
              <a:ext uri="{FF2B5EF4-FFF2-40B4-BE49-F238E27FC236}">
                <a16:creationId xmlns:a16="http://schemas.microsoft.com/office/drawing/2014/main" id="{FB06F9CF-9EC8-42F3-9BEF-8D576E0A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WHATSAPP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message + metadata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7F71D-41D7-4D27-A178-1F3EE37D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A">
            <a:extLst xmlns:a="http://schemas.openxmlformats.org/drawingml/2006/main">
              <a:ext uri="{FF2B5EF4-FFF2-40B4-BE49-F238E27FC236}">
                <a16:creationId xmlns:a16="http://schemas.microsoft.com/office/drawing/2014/main" id="{6793B1A7-5BE1-4BF5-B502-B3D619BA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META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callback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95E58-C854-4B6D-B181-3D64162B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ET /webhook">
            <a:extLst xmlns:a="http://schemas.openxmlformats.org/drawingml/2006/main">
              <a:ext uri="{FF2B5EF4-FFF2-40B4-BE49-F238E27FC236}">
                <a16:creationId xmlns:a16="http://schemas.microsoft.com/office/drawing/2014/main" id="{E87CDB3B-F6B2-4368-A4F8-468F1464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09750"/>
            <a:ext cx="2095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GET /webhook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verify()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78BB8-8649-4105-A091-F0F90139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097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OST /webhook">
            <a:extLst xmlns:a="http://schemas.openxmlformats.org/drawingml/2006/main">
              <a:ext uri="{FF2B5EF4-FFF2-40B4-BE49-F238E27FC236}">
                <a16:creationId xmlns:a16="http://schemas.microsoft.com/office/drawing/2014/main" id="{2BB56C17-EB5C-4276-9BA5-C8E219E8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95600"/>
            <a:ext cx="2095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POST /webhook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receive()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B9216-80A9-4278-8B0E-AFCDA42F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956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W STORAGE">
            <a:extLst xmlns:a="http://schemas.openxmlformats.org/drawingml/2006/main">
              <a:ext uri="{FF2B5EF4-FFF2-40B4-BE49-F238E27FC236}">
                <a16:creationId xmlns:a16="http://schemas.microsoft.com/office/drawing/2014/main" id="{2FD0308A-A4E4-4F94-8ADD-64017CFF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0"/>
            <a:ext cx="2095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RAW STORAGE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raw_messages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24309-30BB-42F7-A541-4D1D57E7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43200" y="269557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5238750" y="2152650"/>
            <a:ext cx="590550" cy="542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6C85F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238750" y="2695575"/>
            <a:ext cx="590550" cy="542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7A6E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7924800" y="2695575"/>
            <a:ext cx="76200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A5FF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142C74-B2EE-46DD-8149-C70883FB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6C85F"/>
                </a:solidFill>
              </a:defRPr>
            </a:pPr>
            <a:r>
              <a:rPr sz="1050" b="1" i="0">
                <a:solidFill>
                  <a:srgbClr val="F6C85F"/>
                </a:solidFill>
              </a:rPr>
              <a:t>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DEE7C6-2D68-4694-ADC9-C603A303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861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7A6E"/>
                </a:solidFill>
              </a:defRPr>
            </a:pPr>
            <a:r>
              <a:rPr sz="1050" b="1" i="0">
                <a:solidFill>
                  <a:srgbClr val="FF7A6E"/>
                </a:solidFill>
              </a:rPr>
              <a:t>POST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543C4-8E1B-4321-83A3-47508D9F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577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7FAFC"/>
                </a:solidFill>
              </a:defRPr>
            </a:pPr>
            <a:r>
              <a:rPr sz="1350" b="1" i="0">
                <a:solidFill>
                  <a:srgbClr val="F7FAFC"/>
                </a:solidFill>
              </a:rPr>
              <a:t>Verification: hub.mode + hub.verify_token -&gt; 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428D32-1B03-447B-A958-DB9797E4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9B7C7"/>
                </a:solidFill>
              </a:defRPr>
            </a:pPr>
            <a:r>
              <a:rPr sz="1200" b="0" i="0">
                <a:solidFill>
                  <a:srgbClr val="A9B7C7"/>
                </a:solidFill>
              </a:rPr>
              <a:t>Receive path: filter our phone_number_id -&gt; dedupe wa_message_id -&gt; persist -&gt; answer 200 -&gt; background reply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1D453-13DA-49BB-9FF8-1AAD8168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CBC16-32A8-4541-97EF-FD74F7F0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38356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970CF-A150-4D76-9D84-BE2F4C8E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06 / PROCESSING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91C9D-ABA2-4AFE-92BE-C6AE6CDF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Inside the backend, each stage has one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6B9D6-1585-4962-BF8B-00EE15E3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RECEIVE">
            <a:extLst xmlns:a="http://schemas.openxmlformats.org/drawingml/2006/main">
              <a:ext uri="{FF2B5EF4-FFF2-40B4-BE49-F238E27FC236}">
                <a16:creationId xmlns:a16="http://schemas.microsoft.com/office/drawing/2014/main" id="{25921468-56BB-484B-8C4D-B3BE4EBA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RECEIVE</a:t>
            </a:r>
          </a:p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main.receive()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67EAF-A7F1-46EF-871C-8953A761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RSE">
            <a:extLst xmlns:a="http://schemas.openxmlformats.org/drawingml/2006/main">
              <a:ext uri="{FF2B5EF4-FFF2-40B4-BE49-F238E27FC236}">
                <a16:creationId xmlns:a16="http://schemas.microsoft.com/office/drawing/2014/main" id="{4F24B20F-75C9-4214-A0AB-7A69B82C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5745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PARSE</a:t>
            </a:r>
          </a:p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extract.parse()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2B3AA-8455-4D53-A19C-417C9383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574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43150" y="2886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6E"/>
            </a:solidFill>
            <a:prstDash val="solid"/>
            <a:tailEnd type="triangle" w="sm" len="sm"/>
          </a:ln>
        </p:spPr>
      </p:cxnSp>
      <p:sp>
        <p:nvSpPr>
          <p:cNvPr id="9" name="ENRICH">
            <a:extLst xmlns:a="http://schemas.openxmlformats.org/drawingml/2006/main">
              <a:ext uri="{FF2B5EF4-FFF2-40B4-BE49-F238E27FC236}">
                <a16:creationId xmlns:a16="http://schemas.microsoft.com/office/drawing/2014/main" id="{6ABDF84A-D7CE-4CDD-9D67-CD89DF88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ENRICH</a:t>
            </a:r>
          </a:p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llm optional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FB15A-6912-4B0F-B51F-42C959E1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152900" y="2886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6C85F"/>
            </a:solidFill>
            <a:prstDash val="solid"/>
            <a:tailEnd type="triangle" w="sm" len="sm"/>
          </a:ln>
        </p:spPr>
      </p:cxnSp>
      <p:sp>
        <p:nvSpPr>
          <p:cNvPr id="12" name="CLUSTER">
            <a:extLst xmlns:a="http://schemas.openxmlformats.org/drawingml/2006/main">
              <a:ext uri="{FF2B5EF4-FFF2-40B4-BE49-F238E27FC236}">
                <a16:creationId xmlns:a16="http://schemas.microsoft.com/office/drawing/2014/main" id="{8496572B-FB9A-4704-87DD-EFCD5278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CLUSTER</a:t>
            </a:r>
          </a:p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incident.cluster()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F03C6-9AF6-4724-8675-62B17260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62650" y="2886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sp>
        <p:nvSpPr>
          <p:cNvPr id="15" name="SCORE">
            <a:extLst xmlns:a="http://schemas.openxmlformats.org/drawingml/2006/main">
              <a:ext uri="{FF2B5EF4-FFF2-40B4-BE49-F238E27FC236}">
                <a16:creationId xmlns:a16="http://schemas.microsoft.com/office/drawing/2014/main" id="{D3C27C6F-B893-4722-976E-5F288F10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SCORE</a:t>
            </a:r>
          </a:p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compute.brief()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E9B62-AB97-40FB-99EB-D06C5A08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4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772400" y="2886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A5FF"/>
            </a:solidFill>
            <a:prstDash val="solid"/>
            <a:tailEnd type="triangle" w="sm" len="sm"/>
          </a:ln>
        </p:spPr>
      </p:cxnSp>
      <p:sp>
        <p:nvSpPr>
          <p:cNvPr id="18" name="RESPOND">
            <a:extLst xmlns:a="http://schemas.openxmlformats.org/drawingml/2006/main">
              <a:ext uri="{FF2B5EF4-FFF2-40B4-BE49-F238E27FC236}">
                <a16:creationId xmlns:a16="http://schemas.microsoft.com/office/drawing/2014/main" id="{EBA6DEBD-07C3-46C3-B488-25F303A4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RESPOND</a:t>
            </a:r>
          </a:p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notify / follow-up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822233-BD6F-4443-90C1-41FCD6FD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7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582150" y="2886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6E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A8616B-C6FB-4707-A6D9-60435147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7FAFC"/>
                </a:solidFill>
              </a:defRPr>
            </a:pPr>
            <a:r>
              <a:rPr sz="1650" b="1" i="0">
                <a:solidFill>
                  <a:srgbClr val="F7FAFC"/>
                </a:solidFill>
              </a:rPr>
              <a:t>Rules parser first. AI is an optional extraction helper, never the urgency judge.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19DF89-5F5F-42E8-A6D4-685FB636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43500"/>
            <a:ext cx="1143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55D6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5D6E6"/>
                </a:solidFill>
              </a:defRPr>
            </a:pPr>
            <a:r>
              <a:rPr sz="975" b="1">
                <a:solidFill>
                  <a:srgbClr val="55D6E6"/>
                </a:solidFill>
              </a:rPr>
              <a:t>FASTAPI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D223EA-B9EA-4BB9-847F-54D46449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43500"/>
            <a:ext cx="1143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55D6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5D6E6"/>
                </a:solidFill>
              </a:defRPr>
            </a:pPr>
            <a:r>
              <a:rPr sz="975" b="1">
                <a:solidFill>
                  <a:srgbClr val="55D6E6"/>
                </a:solidFill>
              </a:rPr>
              <a:t>PYTHON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E42B04-D5E7-456B-ADB8-B031A95A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435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85F"/>
                </a:solidFill>
              </a:defRPr>
            </a:pPr>
            <a:r>
              <a:rPr sz="975" b="1">
                <a:solidFill>
                  <a:srgbClr val="F6C85F"/>
                </a:solidFill>
              </a:rPr>
              <a:t>BACKGROUND TASKS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7A5A8-8898-46E1-955F-9D3BA969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435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45D4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D483"/>
                </a:solidFill>
              </a:defRPr>
            </a:pPr>
            <a:r>
              <a:rPr sz="975" b="1">
                <a:solidFill>
                  <a:srgbClr val="45D483"/>
                </a:solidFill>
              </a:rPr>
              <a:t>HUMAN DECISION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5EDEF1-77F2-4E67-9627-5B67A3AC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7CD44E-EC26-4EA4-ACD1-EEDD70E9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7254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E3D5B7-DDCE-4A1A-B00B-2F579848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07 / DATA TRANSFORMATION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677A5-4A8B-4A35-9503-1039FBCD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The pipeline converts an unstructured message into an actionable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8C92D-30CF-48CA-80EE-D8098A1F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RAW INPUT">
            <a:extLst xmlns:a="http://schemas.openxmlformats.org/drawingml/2006/main">
              <a:ext uri="{FF2B5EF4-FFF2-40B4-BE49-F238E27FC236}">
                <a16:creationId xmlns:a16="http://schemas.microsoft.com/office/drawing/2014/main" id="{10B36279-4537-4336-9C11-71D0B09C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RAW INPUT</a:t>
            </a:r>
          </a:p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WhatsApp JSON</a:t>
            </a:r>
          </a:p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text / location /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F446C-35A3-40E0-BA31-440C2043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RSED NEED">
            <a:extLst xmlns:a="http://schemas.openxmlformats.org/drawingml/2006/main">
              <a:ext uri="{FF2B5EF4-FFF2-40B4-BE49-F238E27FC236}">
                <a16:creationId xmlns:a16="http://schemas.microsoft.com/office/drawing/2014/main" id="{640ED9F4-2700-4ED8-BEA9-6292155A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717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PARSED NEED</a:t>
            </a:r>
          </a:p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Need dataclass</a:t>
            </a:r>
          </a:p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place + people + deficits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D3FC1-B6FF-4296-9E01-31FC3C11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717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CIDENT">
            <a:extLst xmlns:a="http://schemas.openxmlformats.org/drawingml/2006/main">
              <a:ext uri="{FF2B5EF4-FFF2-40B4-BE49-F238E27FC236}">
                <a16:creationId xmlns:a16="http://schemas.microsoft.com/office/drawing/2014/main" id="{7E2A6B42-03F7-414E-8040-2410DBC1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717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INCIDENT</a:t>
            </a:r>
          </a:p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clustered event</a:t>
            </a:r>
          </a:p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confirmation +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5B78E-7799-4710-A6A5-D8795FB3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717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81350" y="28003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515100" y="28003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5C597-9E22-4C3A-B9CB-4468B38D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5D6E6"/>
                </a:solidFill>
              </a:defRPr>
            </a:pPr>
            <a:r>
              <a:rPr sz="1125" b="1" i="0">
                <a:solidFill>
                  <a:srgbClr val="55D6E6"/>
                </a:solidFill>
              </a:rPr>
              <a:t>Example fields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0207D-AB22-47F6-A883-598B9EE2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A9B7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B7C7"/>
                </a:solidFill>
              </a:defRPr>
            </a:pPr>
            <a:r>
              <a:rPr sz="975" b="1">
                <a:solidFill>
                  <a:srgbClr val="A9B7C7"/>
                </a:solidFill>
              </a:rPr>
              <a:t>lat / lng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F6F2C-26A9-4F04-943B-1207773C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720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A9B7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B7C7"/>
                </a:solidFill>
              </a:defRPr>
            </a:pPr>
            <a:r>
              <a:rPr sz="975" b="1">
                <a:solidFill>
                  <a:srgbClr val="A9B7C7"/>
                </a:solidFill>
              </a:rPr>
              <a:t>headcount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BCF88-4944-4DA7-924F-49BF24F7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720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A9B7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B7C7"/>
                </a:solidFill>
              </a:defRPr>
            </a:pPr>
            <a:r>
              <a:rPr sz="975" b="1">
                <a:solidFill>
                  <a:srgbClr val="A9B7C7"/>
                </a:solidFill>
              </a:rPr>
              <a:t>injured / trapped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7752F-D85A-4BB8-864E-68EA303F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A9B7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B7C7"/>
                </a:solidFill>
              </a:defRPr>
            </a:pPr>
            <a:r>
              <a:rPr sz="975" b="1">
                <a:solidFill>
                  <a:srgbClr val="A9B7C7"/>
                </a:solidFill>
              </a:rPr>
              <a:t>deficits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82ACC-4489-4CBB-BF4F-6465AEC7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911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A9B7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B7C7"/>
                </a:solidFill>
              </a:defRPr>
            </a:pPr>
            <a:r>
              <a:rPr sz="975" b="1">
                <a:solidFill>
                  <a:srgbClr val="A9B7C7"/>
                </a:solidFill>
              </a:rPr>
              <a:t>hazard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29D8F-5B81-4E56-B6BB-29E3F2F7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911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A9B7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B7C7"/>
                </a:solidFill>
              </a:defRPr>
            </a:pPr>
            <a:r>
              <a:rPr sz="975" b="1">
                <a:solidFill>
                  <a:srgbClr val="A9B7C7"/>
                </a:solidFill>
              </a:rPr>
              <a:t>vulnerable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4774D7-D8CD-48C0-8455-A5794E6B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6C85F"/>
                </a:solidFill>
              </a:defRPr>
            </a:pPr>
            <a:r>
              <a:rPr sz="1350" b="1" i="0">
                <a:solidFill>
                  <a:srgbClr val="F6C85F"/>
                </a:solidFill>
              </a:rPr>
              <a:t>If location or substance is missing, it becomes a follow-up instead of a fake red dot.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4F729-680F-479D-AC66-7958E2C4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94A67-489E-4587-AC15-46B41D19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8388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CB7CAD-5AD8-4264-8AB7-33A26F2A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08 / DATABASE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382D3-B65E-4FEA-9EA0-2D98DB36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Storage keeps the raw evidence and the operational state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D3687-1C09-49C6-899A-E3215858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DATABASE">
            <a:extLst xmlns:a="http://schemas.openxmlformats.org/drawingml/2006/main">
              <a:ext uri="{FF2B5EF4-FFF2-40B4-BE49-F238E27FC236}">
                <a16:creationId xmlns:a16="http://schemas.microsoft.com/office/drawing/2014/main" id="{8C06D84F-479A-47F1-96E3-9AE11731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04950"/>
            <a:ext cx="2667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DATABASE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SQLite locally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Postgres on Render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4049A-B14B-4E57-8875-AD073C5B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04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w_messages">
            <a:extLst xmlns:a="http://schemas.openxmlformats.org/drawingml/2006/main">
              <a:ext uri="{FF2B5EF4-FFF2-40B4-BE49-F238E27FC236}">
                <a16:creationId xmlns:a16="http://schemas.microsoft.com/office/drawing/2014/main" id="{CC094B3B-C7A9-4347-AA63-170E43F8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raw_messages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original payload + dedup key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05A5B-BD16-42F1-9A88-2FFBD193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versations">
            <a:extLst xmlns:a="http://schemas.openxmlformats.org/drawingml/2006/main">
              <a:ext uri="{FF2B5EF4-FFF2-40B4-BE49-F238E27FC236}">
                <a16:creationId xmlns:a16="http://schemas.microsoft.com/office/drawing/2014/main" id="{C3F1730E-9F9E-48BE-8A0E-C7EF0430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conversations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question / answer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8F7C4-4F21-41F0-85E9-335F6326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cidents">
            <a:extLst xmlns:a="http://schemas.openxmlformats.org/drawingml/2006/main">
              <a:ext uri="{FF2B5EF4-FFF2-40B4-BE49-F238E27FC236}">
                <a16:creationId xmlns:a16="http://schemas.microsoft.com/office/drawing/2014/main" id="{FB5BCD8E-F6A0-4D62-9354-0D4FA944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incidents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cluster + lifecycle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19DA2-57EA-4190-8791-787D1E56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sources">
            <a:extLst xmlns:a="http://schemas.openxmlformats.org/drawingml/2006/main">
              <a:ext uri="{FF2B5EF4-FFF2-40B4-BE49-F238E27FC236}">
                <a16:creationId xmlns:a16="http://schemas.microsoft.com/office/drawing/2014/main" id="{ECE7B427-F99F-4F83-A945-08868EEA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resources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unit inventory +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5301C-112C-46D8-B6E1-E35CBE47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erifications">
            <a:extLst xmlns:a="http://schemas.openxmlformats.org/drawingml/2006/main">
              <a:ext uri="{FF2B5EF4-FFF2-40B4-BE49-F238E27FC236}">
                <a16:creationId xmlns:a16="http://schemas.microsoft.com/office/drawing/2014/main" id="{D5C9814C-9FCD-4DE4-B174-2E62E59C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verifications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named human decisions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29CB7-EB82-4D7F-BF8D-EF7E4ECF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ssignments">
            <a:extLst xmlns:a="http://schemas.openxmlformats.org/drawingml/2006/main">
              <a:ext uri="{FF2B5EF4-FFF2-40B4-BE49-F238E27FC236}">
                <a16:creationId xmlns:a16="http://schemas.microsoft.com/office/drawing/2014/main" id="{A20DB1E2-2EE9-46C6-9D51-6A9D5688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625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assignments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unit -&gt; incident commit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8361AD-A5CB-481F-9A76-3B7083CE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625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rival_checks">
            <a:extLst xmlns:a="http://schemas.openxmlformats.org/drawingml/2006/main">
              <a:ext uri="{FF2B5EF4-FFF2-40B4-BE49-F238E27FC236}">
                <a16:creationId xmlns:a16="http://schemas.microsoft.com/office/drawing/2014/main" id="{25FF28CA-7656-4BC0-875E-256EDE0F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arrival_checks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did help reach them?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EF1666-B981-4708-A1CA-A7C8D93F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8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095500" y="2324100"/>
            <a:ext cx="4000500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4762500" y="2324100"/>
            <a:ext cx="1333500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6C85F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4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2324100"/>
            <a:ext cx="1333500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F7A6E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4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2324100"/>
            <a:ext cx="4000500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4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3429000" y="2324100"/>
            <a:ext cx="2667000" cy="2438400"/>
          </a:xfrm>
          <a:prstGeom xmlns:a="http://schemas.openxmlformats.org/drawingml/2006/main" prst="bentConnector4">
            <a:avLst>
              <a:gd name="adj1" fmla="val 0"/>
              <a:gd name="adj2" fmla="val 9375"/>
            </a:avLst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2324100"/>
            <a:ext cx="0" cy="2438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6E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6000" y="2324100"/>
            <a:ext cx="2667000" cy="2438400"/>
          </a:xfrm>
          <a:prstGeom xmlns:a="http://schemas.openxmlformats.org/drawingml/2006/main" prst="bentConnector4">
            <a:avLst>
              <a:gd name="adj1" fmla="val 0"/>
              <a:gd name="adj2" fmla="val 9375"/>
            </a:avLst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10089A-8197-4403-915A-4C8B1767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5F6398-FFDB-4C79-A2FA-2F8383DA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618199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5877FA-894E-467C-A43A-C71EC417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09 / BACKEND &lt;-&gt; FRONTEND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D7EF9-9D74-4F7C-8553-3250AF79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The frontend is a thin client over the backend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A1911-B348-4D0E-9B32-0B50CA78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REACT UI">
            <a:extLst xmlns:a="http://schemas.openxmlformats.org/drawingml/2006/main">
              <a:ext uri="{FF2B5EF4-FFF2-40B4-BE49-F238E27FC236}">
                <a16:creationId xmlns:a16="http://schemas.microsoft.com/office/drawing/2014/main" id="{8EDE9C50-FA7F-405D-8A48-7422B61C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476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REACT UI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App.jsx + operator components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B0962-5217-41D4-B335-E9B2CFED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PI ADAPTER">
            <a:extLst xmlns:a="http://schemas.openxmlformats.org/drawingml/2006/main">
              <a:ext uri="{FF2B5EF4-FFF2-40B4-BE49-F238E27FC236}">
                <a16:creationId xmlns:a16="http://schemas.microsoft.com/office/drawing/2014/main" id="{0FB6D08B-7BA7-4B12-82D3-43ED16B7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24100"/>
            <a:ext cx="2476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API ADAPTER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src/api.js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VITE_API_URL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B583C-7620-4648-8103-65862DAB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241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ASTAPI">
            <a:extLst xmlns:a="http://schemas.openxmlformats.org/drawingml/2006/main">
              <a:ext uri="{FF2B5EF4-FFF2-40B4-BE49-F238E27FC236}">
                <a16:creationId xmlns:a16="http://schemas.microsoft.com/office/drawing/2014/main" id="{F92055E3-67B3-4457-9F64-D1B1EA95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24100"/>
            <a:ext cx="2476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FASTAPI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app/main.py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REST routes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D910F-D68A-4AEC-8F0D-7749AFB3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241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71850" y="2800350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34250" y="2800350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6E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334250" y="2800350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6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3371850" y="2800350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E0C10-661F-4B3C-9142-C342018D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55D6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5D6E6"/>
                </a:solidFill>
              </a:defRPr>
            </a:pPr>
            <a:r>
              <a:rPr sz="975" b="1">
                <a:solidFill>
                  <a:srgbClr val="55D6E6"/>
                </a:solidFill>
              </a:rPr>
              <a:t>GET /incidents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9E8C1-C620-48A8-904A-93387420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767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55D6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5D6E6"/>
                </a:solidFill>
              </a:defRPr>
            </a:pPr>
            <a:r>
              <a:rPr sz="975" b="1">
                <a:solidFill>
                  <a:srgbClr val="55D6E6"/>
                </a:solidFill>
              </a:rPr>
              <a:t>GET /stats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4F856-D17A-42B6-9A1A-0188769F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767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55D6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5D6E6"/>
                </a:solidFill>
              </a:defRPr>
            </a:pPr>
            <a:r>
              <a:rPr sz="975" b="1">
                <a:solidFill>
                  <a:srgbClr val="55D6E6"/>
                </a:solidFill>
              </a:rPr>
              <a:t>GET /follow-ups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1AE28-C3B7-41BB-9A24-A24D3F5C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767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85F"/>
                </a:solidFill>
              </a:defRPr>
            </a:pPr>
            <a:r>
              <a:rPr sz="975" b="1">
                <a:solidFill>
                  <a:srgbClr val="F6C85F"/>
                </a:solidFill>
              </a:rPr>
              <a:t>POST /reports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B8B8F-6A8B-4218-AED8-32E0C299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85F"/>
                </a:solidFill>
              </a:defRPr>
            </a:pPr>
            <a:r>
              <a:rPr sz="975" b="1">
                <a:solidFill>
                  <a:srgbClr val="F6C85F"/>
                </a:solidFill>
              </a:rPr>
              <a:t>POST /verify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9A502-10E2-4FA4-87CF-36003970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9149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85F"/>
                </a:solidFill>
              </a:defRPr>
            </a:pPr>
            <a:r>
              <a:rPr sz="975" b="1">
                <a:solidFill>
                  <a:srgbClr val="F6C85F"/>
                </a:solidFill>
              </a:rPr>
              <a:t>POST /assign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1431AD-0A9F-4089-8341-F73E9912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1490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85F"/>
                </a:solidFill>
              </a:defRPr>
            </a:pPr>
            <a:r>
              <a:rPr sz="975" b="1">
                <a:solidFill>
                  <a:srgbClr val="F6C85F"/>
                </a:solidFill>
              </a:rPr>
              <a:t>POST /check-arrival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04911C-9BB8-4245-893F-0E2856D6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91A244-C196-497B-B60C-1571D5CE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08136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F287DE-2709-4A0A-809E-0C325E08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10 / FRONTEND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824FB-D68C-4118-861B-333D4FE2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The dashboard is organized around the operator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FBA1E-0498-4735-802B-7B67C2A9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APP SHELL">
            <a:extLst xmlns:a="http://schemas.openxmlformats.org/drawingml/2006/main">
              <a:ext uri="{FF2B5EF4-FFF2-40B4-BE49-F238E27FC236}">
                <a16:creationId xmlns:a16="http://schemas.microsoft.com/office/drawing/2014/main" id="{3905D4E7-C497-48DC-A91A-8710A41D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0"/>
            <a:ext cx="2667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APP SHELL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src/App.jsx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82138-4E9D-4544-9769-D4EC9C7D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RIAGE QUEUE">
            <a:extLst xmlns:a="http://schemas.openxmlformats.org/drawingml/2006/main">
              <a:ext uri="{FF2B5EF4-FFF2-40B4-BE49-F238E27FC236}">
                <a16:creationId xmlns:a16="http://schemas.microsoft.com/office/drawing/2014/main" id="{9C67364F-7A69-46FE-B941-CFD7327B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286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TRIAGE QUEUE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TriageQueue.jsx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979F4-881A-47FE-922D-EB450591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PERATOR ACTIONS">
            <a:extLst xmlns:a="http://schemas.openxmlformats.org/drawingml/2006/main">
              <a:ext uri="{FF2B5EF4-FFF2-40B4-BE49-F238E27FC236}">
                <a16:creationId xmlns:a16="http://schemas.microsoft.com/office/drawing/2014/main" id="{7AD2F57A-8778-4899-85D9-B033F98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43250"/>
            <a:ext cx="2286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OPERATOR ACTIONS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OperatorActions.jsx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1603B-049F-439E-B1BD-C59A799C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432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SSISTANCE">
            <a:extLst xmlns:a="http://schemas.openxmlformats.org/drawingml/2006/main">
              <a:ext uri="{FF2B5EF4-FFF2-40B4-BE49-F238E27FC236}">
                <a16:creationId xmlns:a16="http://schemas.microsoft.com/office/drawing/2014/main" id="{448694E3-8BA7-4486-AC3C-23F0AF7F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2286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ASSISTANCE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AssistancePanel.jsx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13CED-4BE0-46F7-8D45-4F9B7C82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AP">
            <a:extLst xmlns:a="http://schemas.openxmlformats.org/drawingml/2006/main">
              <a:ext uri="{FF2B5EF4-FFF2-40B4-BE49-F238E27FC236}">
                <a16:creationId xmlns:a16="http://schemas.microsoft.com/office/drawing/2014/main" id="{A0FF0FBB-1A36-4599-AE57-054E919D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1809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82034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MAP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IncidentMap.jsx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4FD75-7A59-4E92-973C-ADEFD65E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PI LAYER">
            <a:extLst xmlns:a="http://schemas.openxmlformats.org/drawingml/2006/main">
              <a:ext uri="{FF2B5EF4-FFF2-40B4-BE49-F238E27FC236}">
                <a16:creationId xmlns:a16="http://schemas.microsoft.com/office/drawing/2014/main" id="{8FB8628F-93E0-4AFB-8D43-1344BA9E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72050"/>
            <a:ext cx="2667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API LAYER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src/api.js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AB383-B4A8-46E0-A685-B09FD672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720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1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286000" y="2228850"/>
            <a:ext cx="3810000" cy="914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4972050" y="2228850"/>
            <a:ext cx="1123950" cy="914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4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2228850"/>
            <a:ext cx="1562100" cy="914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4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2228850"/>
            <a:ext cx="4010025" cy="914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6C85F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6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2286000" y="3905250"/>
            <a:ext cx="3810000" cy="1066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8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4972050" y="3905250"/>
            <a:ext cx="1123950" cy="1066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6096000" y="3905250"/>
            <a:ext cx="1562100" cy="1066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6E09F3-E9C8-4AF2-BBFD-AD941FF3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7205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A2415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85F"/>
                </a:solidFill>
              </a:defRPr>
            </a:pPr>
            <a:r>
              <a:rPr sz="975" b="1">
                <a:solidFill>
                  <a:srgbClr val="F6C85F"/>
                </a:solidFill>
              </a:rPr>
              <a:t>MAP COMPONENT EXISTS; LIVE WIRING IS 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7DFC28-59B0-4464-9BCF-A68583FC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D81D87-2AD0-47F6-AA8B-00FEB8A3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608949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208ED2-8C2E-4464-9938-2296B4B3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11 / DECISION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4B12E-A0BD-4F4E-9130-5B9E91AF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The operator sees urgency, uncertainty, and the next action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6D29C-B89E-419E-9089-2E36FD06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304B6-AADC-4E5A-A0CA-230324B2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10477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EFB2A-720E-49DE-AB12-E1559B4B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288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AAPDAAI CONTROL ROOM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B2A6F-4586-4CC8-926B-145B777E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FF7A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6E"/>
                </a:solidFill>
              </a:defRPr>
            </a:pPr>
            <a:r>
              <a:rPr sz="975" b="1">
                <a:solidFill>
                  <a:srgbClr val="FF7A6E"/>
                </a:solidFill>
              </a:rPr>
              <a:t>TRIAGE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DF791-1DE1-4827-B1EB-0284247A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9070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45D4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D483"/>
                </a:solidFill>
              </a:defRPr>
            </a:pPr>
            <a:r>
              <a:rPr sz="975" b="1">
                <a:solidFill>
                  <a:srgbClr val="45D483"/>
                </a:solidFill>
              </a:rPr>
              <a:t>LIVE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C4514-8276-4144-8456-67CFA724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6220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7263B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8AFF9-2F5D-4137-82C7-DBD637F3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1460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7C7"/>
                </a:solidFill>
              </a:defRPr>
            </a:pPr>
            <a:r>
              <a:rPr sz="900" b="1" i="0">
                <a:solidFill>
                  <a:srgbClr val="A9B7C7"/>
                </a:solidFill>
              </a:rPr>
              <a:t>INCIDENTS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550D7-0207-4C74-B880-50AE1A34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7FAFC"/>
                </a:solidFill>
              </a:defRPr>
            </a:pPr>
            <a:r>
              <a:rPr sz="1875" b="1" i="0">
                <a:solidFill>
                  <a:srgbClr val="F7FAFC"/>
                </a:solidFill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A8761-0093-4991-8BBE-D143038E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6220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7263B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C002C9-B173-4BD7-8F50-B0C0A6DD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7C7"/>
                </a:solidFill>
              </a:defRPr>
            </a:pPr>
            <a:r>
              <a:rPr sz="900" b="1" i="0">
                <a:solidFill>
                  <a:srgbClr val="A9B7C7"/>
                </a:solidFill>
              </a:rPr>
              <a:t>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E9A49-997F-4932-BCC2-9D5B0AD5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7A6E"/>
                </a:solidFill>
              </a:defRPr>
            </a:pPr>
            <a:r>
              <a:rPr sz="1875" b="1" i="0">
                <a:solidFill>
                  <a:srgbClr val="FF7A6E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26946-205C-4A11-B266-79D1E1CA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6220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7263B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7B18F-B32F-416D-A423-B6E93527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1460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7C7"/>
                </a:solidFill>
              </a:defRPr>
            </a:pPr>
            <a:r>
              <a:rPr sz="900" b="1" i="0">
                <a:solidFill>
                  <a:srgbClr val="A9B7C7"/>
                </a:solidFill>
              </a:rPr>
              <a:t>PEOPLE AFFECTED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83267-77CF-495A-A813-7CF84C97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432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7FAFC"/>
                </a:solidFill>
              </a:defRPr>
            </a:pPr>
            <a:r>
              <a:rPr sz="1875" b="1" i="0">
                <a:solidFill>
                  <a:srgbClr val="F7FAFC"/>
                </a:solidFill>
              </a:rPr>
              <a:t>248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9A922-1165-401D-BCCF-7F208EC5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7263B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CCE0E-9668-4E55-BD19-21F9F3B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1460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7C7"/>
                </a:solidFill>
              </a:defRPr>
            </a:pPr>
            <a:r>
              <a:rPr sz="900" b="1" i="0">
                <a:solidFill>
                  <a:srgbClr val="A9B7C7"/>
                </a:solidFill>
              </a:rPr>
              <a:t>UNASSISTED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7DD03-F0D7-4824-B150-CC2051AA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432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7FAFC"/>
                </a:solidFill>
              </a:defRPr>
            </a:pPr>
            <a:r>
              <a:rPr sz="1875" b="1" i="0">
                <a:solidFill>
                  <a:srgbClr val="F7FAFC"/>
                </a:solidFill>
              </a:rPr>
              <a:t>05</a:t>
            </a:r>
          </a:p>
        </p:txBody>
      </p:sp>
      <p:sp>
        <p:nvSpPr>
          <p:cNvPr id="20" name="P1 / FLOOD">
            <a:extLst xmlns:a="http://schemas.openxmlformats.org/drawingml/2006/main">
              <a:ext uri="{FF2B5EF4-FFF2-40B4-BE49-F238E27FC236}">
                <a16:creationId xmlns:a16="http://schemas.microsoft.com/office/drawing/2014/main" id="{6BE64BE6-EA0E-43B0-A75D-FE7ABCDB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24250"/>
            <a:ext cx="4095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P1 / FLOOD</a:t>
            </a:r>
          </a:p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Patia Govt School</a:t>
            </a:r>
          </a:p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200 people - needs rescue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6E02BB-CCE1-4FF0-990D-C3CD7B42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24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VERITY 82">
            <a:extLst xmlns:a="http://schemas.openxmlformats.org/drawingml/2006/main">
              <a:ext uri="{FF2B5EF4-FFF2-40B4-BE49-F238E27FC236}">
                <a16:creationId xmlns:a16="http://schemas.microsoft.com/office/drawing/2014/main" id="{230751A7-E273-462F-9473-69C87629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SEVERITY 82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CONFIDENCE 64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3 independent reports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C9B97-FD28-4B4C-8ADF-87C77E32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NEXT ACTION">
            <a:extLst xmlns:a="http://schemas.openxmlformats.org/drawingml/2006/main">
              <a:ext uri="{FF2B5EF4-FFF2-40B4-BE49-F238E27FC236}">
                <a16:creationId xmlns:a16="http://schemas.microsoft.com/office/drawing/2014/main" id="{239B4986-22A9-4CD2-B3F0-B4652357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242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NEXT ACTION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verify -&gt; dispatch nearest unit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5CAF8F-8AA4-41EE-A93B-881E91AC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24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5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257800" y="40576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6C85F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001000" y="40576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4FD26C-364F-4F50-B8BE-638C8A98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81BDF1-BEF7-4A6C-8BA6-7444362A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680271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45B3C3-45AA-4147-A8EB-4E7E4779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12 / HERO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6ADBC-0E96-4C00-B603-1AAF71C1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Follow the data: one message becomes one accountable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A5885-EE0D-4391-972F-8146DCEB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CITIZEN">
            <a:extLst xmlns:a="http://schemas.openxmlformats.org/drawingml/2006/main">
              <a:ext uri="{FF2B5EF4-FFF2-40B4-BE49-F238E27FC236}">
                <a16:creationId xmlns:a16="http://schemas.microsoft.com/office/drawing/2014/main" id="{676DB0F9-E09E-4351-AE57-C5A0F7E6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14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CITIZEN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message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F1B9B-313A-4FB6-AB92-0E4713DB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A">
            <a:extLst xmlns:a="http://schemas.openxmlformats.org/drawingml/2006/main">
              <a:ext uri="{FF2B5EF4-FFF2-40B4-BE49-F238E27FC236}">
                <a16:creationId xmlns:a16="http://schemas.microsoft.com/office/drawing/2014/main" id="{4ADE3994-6DE8-4814-96BE-6CD2B829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86050"/>
            <a:ext cx="114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META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WhatsApp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9F1A7-3072-43DB-9E75-39FE6B61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860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1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828800" y="30956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sp>
        <p:nvSpPr>
          <p:cNvPr id="9" name="WEBHOOK">
            <a:extLst xmlns:a="http://schemas.openxmlformats.org/drawingml/2006/main">
              <a:ext uri="{FF2B5EF4-FFF2-40B4-BE49-F238E27FC236}">
                <a16:creationId xmlns:a16="http://schemas.microsoft.com/office/drawing/2014/main" id="{F1224020-8131-4E56-9D1E-C46E27AE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86050"/>
            <a:ext cx="114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WEBHOOK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receive()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5877B-CC14-4646-B238-38E416D6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860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09925" y="30956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sp>
        <p:nvSpPr>
          <p:cNvPr id="12" name="PIPELINE">
            <a:extLst xmlns:a="http://schemas.openxmlformats.org/drawingml/2006/main">
              <a:ext uri="{FF2B5EF4-FFF2-40B4-BE49-F238E27FC236}">
                <a16:creationId xmlns:a16="http://schemas.microsoft.com/office/drawing/2014/main" id="{9903AB14-04BC-45F7-99B0-49D0311C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86050"/>
            <a:ext cx="114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PIPELINE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parse + cluster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9178A-DF40-4933-A53B-5BF8A9CF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860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91050" y="30956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6E"/>
            </a:solidFill>
            <a:prstDash val="solid"/>
            <a:tailEnd type="triangle" w="sm" len="sm"/>
          </a:ln>
        </p:spPr>
      </p:cxnSp>
      <p:sp>
        <p:nvSpPr>
          <p:cNvPr id="15" name="DATABASE">
            <a:extLst xmlns:a="http://schemas.openxmlformats.org/drawingml/2006/main">
              <a:ext uri="{FF2B5EF4-FFF2-40B4-BE49-F238E27FC236}">
                <a16:creationId xmlns:a16="http://schemas.microsoft.com/office/drawing/2014/main" id="{85B77969-9BBE-4381-AFB2-0E95C23A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114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DATABASE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persist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914AA-2E0A-43CB-8AFD-61B8339D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72175" y="30956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A5FF"/>
            </a:solidFill>
            <a:prstDash val="solid"/>
            <a:tailEnd type="triangle" w="sm" len="sm"/>
          </a:ln>
        </p:spPr>
      </p:cxnSp>
      <p:sp>
        <p:nvSpPr>
          <p:cNvPr id="18" name="API">
            <a:extLst xmlns:a="http://schemas.openxmlformats.org/drawingml/2006/main">
              <a:ext uri="{FF2B5EF4-FFF2-40B4-BE49-F238E27FC236}">
                <a16:creationId xmlns:a16="http://schemas.microsoft.com/office/drawing/2014/main" id="{CB0D4571-10CD-48DC-9AD8-9BC2465F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86050"/>
            <a:ext cx="114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API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briefs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C925E3-5393-4B26-9D0A-048DDA94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860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3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353300" y="30956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sp>
        <p:nvSpPr>
          <p:cNvPr id="21" name="DASHBOARD">
            <a:extLst xmlns:a="http://schemas.openxmlformats.org/drawingml/2006/main">
              <a:ext uri="{FF2B5EF4-FFF2-40B4-BE49-F238E27FC236}">
                <a16:creationId xmlns:a16="http://schemas.microsoft.com/office/drawing/2014/main" id="{76568A7B-6A6F-4E4E-8696-E9E6B7A1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86050"/>
            <a:ext cx="114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DASHBOARD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triage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D58273-4730-4DDC-B581-4512C18C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860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6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734425" y="30956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sp>
        <p:nvSpPr>
          <p:cNvPr id="24" name="DECISION">
            <a:extLst xmlns:a="http://schemas.openxmlformats.org/drawingml/2006/main">
              <a:ext uri="{FF2B5EF4-FFF2-40B4-BE49-F238E27FC236}">
                <a16:creationId xmlns:a16="http://schemas.microsoft.com/office/drawing/2014/main" id="{B1A9421A-51FC-438E-B7AF-5FD72AFF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686050"/>
            <a:ext cx="114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DECISION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verify / assign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9353CB-4CBE-4481-8047-84E8F43E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6860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9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0115550" y="30956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6C85F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9EC992-CF74-466A-9CC9-5F13E40B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7FAFC"/>
                </a:solidFill>
              </a:defRPr>
            </a:pPr>
            <a:r>
              <a:rPr sz="1650" b="1" i="0">
                <a:solidFill>
                  <a:srgbClr val="F7FAFC"/>
                </a:solidFill>
              </a:rPr>
              <a:t>The important design choice: recommendations are visible, but authority stays with the named human.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E8B72B-09AF-4D81-8437-D5CC95DC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14950"/>
            <a:ext cx="1238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FF7A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7A6E"/>
                </a:solidFill>
              </a:defRPr>
            </a:pPr>
            <a:r>
              <a:rPr sz="975" b="1">
                <a:solidFill>
                  <a:srgbClr val="FF7A6E"/>
                </a:solidFill>
              </a:rPr>
              <a:t>SEVERITY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FC21F3-820A-43A9-AD0C-AE9B08EF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14950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85F"/>
                </a:solidFill>
              </a:defRPr>
            </a:pPr>
            <a:r>
              <a:rPr sz="975" b="1">
                <a:solidFill>
                  <a:srgbClr val="F6C85F"/>
                </a:solidFill>
              </a:rPr>
              <a:t>CONFIDENCE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1C57B1-1020-4AF6-8FCA-F95995B1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14950"/>
            <a:ext cx="1714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45D4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D483"/>
                </a:solidFill>
              </a:defRPr>
            </a:pPr>
            <a:r>
              <a:rPr sz="975" b="1">
                <a:solidFill>
                  <a:srgbClr val="45D483"/>
                </a:solidFill>
              </a:rPr>
              <a:t>RESOURCE MATCH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58BCFB-EF0D-409C-958B-DA02644A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3149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AFA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FA5FF"/>
                </a:solidFill>
              </a:defRPr>
            </a:pPr>
            <a:r>
              <a:rPr sz="975" b="1">
                <a:solidFill>
                  <a:srgbClr val="AFA5FF"/>
                </a:solidFill>
              </a:rPr>
              <a:t>AUDIT HISTORY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F34C54-DA75-4445-BE5D-704CDFC8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9BB4E6-5E87-43A1-BBA3-D50A7724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761449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EB360F-F6D4-4361-BFCE-666A62C5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13 /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D8C52-F61D-4033-8B0B-53802B80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Deployment puts the backend on a public URL and keeps data in Postgres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8A38B-9418-4BED-9C82-FA1E43DC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INTERNET">
            <a:extLst xmlns:a="http://schemas.openxmlformats.org/drawingml/2006/main">
              <a:ext uri="{FF2B5EF4-FFF2-40B4-BE49-F238E27FC236}">
                <a16:creationId xmlns:a16="http://schemas.microsoft.com/office/drawing/2014/main" id="{13712F20-D01A-4E05-9E9F-0AD501D0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85900"/>
            <a:ext cx="266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INTERNET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browser + Meta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9CEDB-9AE9-4309-9A90-C08FB7C8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859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NDER STATIC SITE">
            <a:extLst xmlns:a="http://schemas.openxmlformats.org/drawingml/2006/main">
              <a:ext uri="{FF2B5EF4-FFF2-40B4-BE49-F238E27FC236}">
                <a16:creationId xmlns:a16="http://schemas.microsoft.com/office/drawing/2014/main" id="{DD7ADD78-0213-4E9C-9891-4F351AAD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47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RENDER STATIC SITE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React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0A103-822D-4B87-9F54-10E5DBA5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NDER WEB SERVICE">
            <a:extLst xmlns:a="http://schemas.openxmlformats.org/drawingml/2006/main">
              <a:ext uri="{FF2B5EF4-FFF2-40B4-BE49-F238E27FC236}">
                <a16:creationId xmlns:a16="http://schemas.microsoft.com/office/drawing/2014/main" id="{39A6F378-1A32-451D-9705-A812CDA7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2667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RENDER WEB SERVICE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aapdaai-backend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uvicorn app.main:app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044F6-1371-49DF-B830-C99389D8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NDER POSTGRES">
            <a:extLst xmlns:a="http://schemas.openxmlformats.org/drawingml/2006/main">
              <a:ext uri="{FF2B5EF4-FFF2-40B4-BE49-F238E27FC236}">
                <a16:creationId xmlns:a16="http://schemas.microsoft.com/office/drawing/2014/main" id="{49040358-01C5-4509-913C-1AED3EF4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28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RENDER POSTGRES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aapdaai-db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55466-ED6A-48AD-AF66-3B79F773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286000" y="2152650"/>
            <a:ext cx="3810000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152650"/>
            <a:ext cx="95250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24750" y="32670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A5FF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6096000" y="2152650"/>
            <a:ext cx="95250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A31714-F92E-42DD-A685-A4852D8B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6C85F"/>
                </a:solidFill>
              </a:defRPr>
            </a:pPr>
            <a:r>
              <a:rPr sz="1200" b="1" i="0">
                <a:solidFill>
                  <a:srgbClr val="F6C85F"/>
                </a:solidFill>
              </a:rPr>
              <a:t>Free-tier reality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5BB2E-2D85-4069-B882-F744800B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7"/>
                </a:solidFill>
              </a:defRPr>
            </a:pPr>
            <a:r>
              <a:rPr sz="1350" b="0" i="0">
                <a:solidFill>
                  <a:srgbClr val="A9B7C7"/>
                </a:solidFill>
              </a:rPr>
              <a:t>The service sleeps after idle time. Warm it before the demo.</a:t>
            </a:r>
          </a:p>
          <a:p xmlns:a="http://schemas.openxmlformats.org/drawingml/2006/main">
            <a:pPr algn="l">
              <a:defRPr sz="1350" b="0" i="0">
                <a:solidFill>
                  <a:srgbClr val="A9B7C7"/>
                </a:solidFill>
              </a:defRPr>
            </a:pPr>
            <a:r>
              <a:rPr sz="1350" b="0" i="0">
                <a:solidFill>
                  <a:srgbClr val="A9B7C7"/>
                </a:solidFill>
              </a:rPr>
              <a:t>SQLite is local fallback; Render is configured for Postgres.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F066E6-3430-4C0B-8C95-5C1D95E7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3AD303-A915-4FB1-8124-D22B6AB7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157268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D13D7A-C2EC-435D-BE8A-5208820D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14 / DEVELOPMENT VS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B6C4B-E9C3-4FD2-81A6-4E1BEC46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The code keeps local development and the live demo on the same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5B399-2B2C-4B0E-9D1F-C093678B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9DC24-98D3-476F-848E-E11E75E7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57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5D6E6"/>
                </a:solidFill>
              </a:defRPr>
            </a:pPr>
            <a:r>
              <a:rPr sz="1500" b="1" i="0">
                <a:solidFill>
                  <a:srgbClr val="55D6E6"/>
                </a:solidFill>
              </a:rPr>
              <a:t>DEVELOPMENT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E5280-B384-4AD3-ACBA-96094996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57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5D483"/>
                </a:solidFill>
              </a:defRPr>
            </a:pPr>
            <a:r>
              <a:rPr sz="1500" b="1" i="0">
                <a:solidFill>
                  <a:srgbClr val="45D483"/>
                </a:solidFill>
              </a:rPr>
              <a:t>PRESENTATION</a:t>
            </a:r>
          </a:p>
        </p:txBody>
      </p:sp>
      <p:sp>
        <p:nvSpPr>
          <p:cNvPr id="6" name="localhost">
            <a:extLst xmlns:a="http://schemas.openxmlformats.org/drawingml/2006/main">
              <a:ext uri="{FF2B5EF4-FFF2-40B4-BE49-F238E27FC236}">
                <a16:creationId xmlns:a16="http://schemas.microsoft.com/office/drawing/2014/main" id="{D010C9CF-BAA3-4683-9E51-A358C8BE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9075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localhost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Vite :5173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144D4-2B8F-4DED-AE99-D3862A19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907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astAPI">
            <a:extLst xmlns:a="http://schemas.openxmlformats.org/drawingml/2006/main">
              <a:ext uri="{FF2B5EF4-FFF2-40B4-BE49-F238E27FC236}">
                <a16:creationId xmlns:a16="http://schemas.microsoft.com/office/drawing/2014/main" id="{A20825C9-EC10-461E-9D2A-D13B7A0D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FastAPI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uvicorn :8000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1D501-B21C-4FC1-B59E-A8978058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QLite">
            <a:extLst xmlns:a="http://schemas.openxmlformats.org/drawingml/2006/main">
              <a:ext uri="{FF2B5EF4-FFF2-40B4-BE49-F238E27FC236}">
                <a16:creationId xmlns:a16="http://schemas.microsoft.com/office/drawing/2014/main" id="{D33DF6A0-5F79-4AED-9B3F-F4E8DCAB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6725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SQLite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local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A1126-CC3B-4D20-A315-B61CDEDE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672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nder static">
            <a:extLst xmlns:a="http://schemas.openxmlformats.org/drawingml/2006/main">
              <a:ext uri="{FF2B5EF4-FFF2-40B4-BE49-F238E27FC236}">
                <a16:creationId xmlns:a16="http://schemas.microsoft.com/office/drawing/2014/main" id="{281290A8-8D93-4382-96B4-5DA97956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238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Render static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VITE_API_URL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879BD-C784-4FF8-93A6-B3D436EB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nder service">
            <a:extLst xmlns:a="http://schemas.openxmlformats.org/drawingml/2006/main">
              <a:ext uri="{FF2B5EF4-FFF2-40B4-BE49-F238E27FC236}">
                <a16:creationId xmlns:a16="http://schemas.microsoft.com/office/drawing/2014/main" id="{90740414-4132-4C3A-AD0E-D1160EDF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238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Render service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public /webhook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DB301-0F8A-4C5F-8349-E1A77E65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ostgres">
            <a:extLst xmlns:a="http://schemas.openxmlformats.org/drawingml/2006/main">
              <a:ext uri="{FF2B5EF4-FFF2-40B4-BE49-F238E27FC236}">
                <a16:creationId xmlns:a16="http://schemas.microsoft.com/office/drawing/2014/main" id="{1537A641-3390-456B-9A24-B2BD30D0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67250"/>
            <a:ext cx="238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Postgres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DATABASE_URL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8937F-C46C-43D8-8A60-D01BA044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672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3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209800" y="291465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209800" y="41529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A5FF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8143875" y="291465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143875" y="41529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A5FF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2F34B0-17EF-4690-9418-248934A0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90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7FAFC"/>
                </a:solidFill>
              </a:defRPr>
            </a:pPr>
            <a:r>
              <a:rPr sz="1500" b="1" i="0">
                <a:solidFill>
                  <a:srgbClr val="F7FAFC"/>
                </a:solidFill>
              </a:rPr>
              <a:t>Same REST routes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6DE8B6-5C91-484C-B8BC-6702C1FF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10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9B7C7"/>
                </a:solidFill>
              </a:defRPr>
            </a:pPr>
            <a:r>
              <a:rPr sz="1125" b="0" i="0">
                <a:solidFill>
                  <a:srgbClr val="A9B7C7"/>
                </a:solidFill>
              </a:rPr>
              <a:t>Different environment values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3977DF-D8D9-4E5F-96C4-5602BCB8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4825CF-EAFC-45F9-9525-D1BE77CD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65973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453ACD-9BC8-4811-A265-7277D99F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15 / IMPLEMENTATION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9564B-27A9-445E-96DE-B1BE767C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The demo is strongest when we separate live, partial, and planned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7DA71-136F-4DDA-BF4C-FEB5E4C9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0B676-94D1-4BEF-BA2D-E7FF8E23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BE080-3EA8-4398-8C12-90A784A7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716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9B7C7"/>
                </a:solidFill>
              </a:defRPr>
            </a:pPr>
            <a:r>
              <a:rPr sz="1050" b="1" i="0">
                <a:solidFill>
                  <a:srgbClr val="A9B7C7"/>
                </a:solidFill>
              </a:rPr>
              <a:t>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8F69A-3233-43D0-AC99-9A8807D0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79E4A-C615-4698-A679-914E9C26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335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9B7C7"/>
                </a:solidFill>
              </a:defRPr>
            </a:pPr>
            <a:r>
              <a:rPr sz="1050" b="1" i="0">
                <a:solidFill>
                  <a:srgbClr val="A9B7C7"/>
                </a:solidFill>
              </a:rPr>
              <a:t>partial / needs attention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BC70C-9C6A-455A-9074-3D33D83E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D6D3D-FBD9-49FD-8C80-425C97EA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955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9B7C7"/>
                </a:solidFill>
              </a:defRPr>
            </a:pPr>
            <a:r>
              <a:rPr sz="1050" b="1" i="0">
                <a:solidFill>
                  <a:srgbClr val="A9B7C7"/>
                </a:solidFill>
              </a:rPr>
              <a:t>planned / documented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B7813-3EDA-4376-BE63-3249AD00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5D483"/>
                </a:solidFill>
              </a:defRPr>
            </a:pPr>
            <a:r>
              <a:rPr sz="1650" b="1" i="0">
                <a:solidFill>
                  <a:srgbClr val="45D483"/>
                </a:solidFill>
              </a:rPr>
              <a:t>IMPLEMENTED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7D1E5-7A6A-4FBD-A53B-6304D23E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D48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8A287-6AFF-4392-90C3-C5F35B32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2E749-477D-44D0-92B7-5B10D1F3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7FAFC"/>
                </a:solidFill>
              </a:defRPr>
            </a:pPr>
            <a:r>
              <a:rPr sz="1200" b="0" i="0">
                <a:solidFill>
                  <a:srgbClr val="F7FAFC"/>
                </a:solidFill>
              </a:rPr>
              <a:t>WhatsApp GET/POST webhook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B5A27-3B21-4C8E-A1DF-93CB1103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B33C1-5818-48BB-BD1A-A3ECA07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7FAFC"/>
                </a:solidFill>
              </a:defRPr>
            </a:pPr>
            <a:r>
              <a:rPr sz="1200" b="0" i="0">
                <a:solidFill>
                  <a:srgbClr val="F7FAFC"/>
                </a:solidFill>
              </a:rPr>
              <a:t>Raw-message deduplication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2FF97-A9EA-4106-89BB-730B6174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4611E-1E2A-45F8-B0FA-2721A16C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7FAFC"/>
                </a:solidFill>
              </a:defRPr>
            </a:pPr>
            <a:r>
              <a:rPr sz="1200" b="0" i="0">
                <a:solidFill>
                  <a:srgbClr val="F7FAFC"/>
                </a:solidFill>
              </a:rPr>
              <a:t>Rule extraction + optional LLM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6D996-1582-4407-AE7D-E7E6FE78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4610D-0196-4984-881D-E79F84CB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7FAFC"/>
                </a:solidFill>
              </a:defRPr>
            </a:pPr>
            <a:r>
              <a:rPr sz="1200" b="0" i="0">
                <a:solidFill>
                  <a:srgbClr val="F7FAFC"/>
                </a:solidFill>
              </a:rPr>
              <a:t>Incident clustering + severity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A4AA6-92FE-4564-AC3A-8B03D3FB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0C431-4FFD-40DC-8449-5C6AE55C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7FAFC"/>
                </a:solidFill>
              </a:defRPr>
            </a:pPr>
            <a:r>
              <a:rPr sz="1200" b="0" i="0">
                <a:solidFill>
                  <a:srgbClr val="F7FAFC"/>
                </a:solidFill>
              </a:rPr>
              <a:t>REST API + triage 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D5A20D-2F55-4F05-8EEC-4BFD9AED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6AA3E-7025-48BC-B4A7-5F15D72F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7FAFC"/>
                </a:solidFill>
              </a:defRPr>
            </a:pPr>
            <a:r>
              <a:rPr sz="1200" b="0" i="0">
                <a:solidFill>
                  <a:srgbClr val="F7FAFC"/>
                </a:solidFill>
              </a:rPr>
              <a:t>Verification, assignment, arrival checks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F28E3E-6AB8-4B21-8766-C861FC68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9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6C85F"/>
                </a:solidFill>
              </a:defRPr>
            </a:pPr>
            <a:r>
              <a:rPr sz="1650" b="1" i="0">
                <a:solidFill>
                  <a:srgbClr val="F6C85F"/>
                </a:solidFill>
              </a:rPr>
              <a:t>PARTIAL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FEB93D-E421-4ABE-981D-2CCCB55E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C8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FB11DA-C3B7-4853-BB27-BFD50409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118E1A-F333-4CEC-905B-DD94E483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860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7FAFC"/>
                </a:solidFill>
              </a:defRPr>
            </a:pPr>
            <a:r>
              <a:rPr sz="1200" b="0" i="0">
                <a:solidFill>
                  <a:srgbClr val="F7FAFC"/>
                </a:solidFill>
              </a:rPr>
              <a:t>Map component is written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4346F9-8D9C-4073-A009-4994B7D4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1E2A26-D876-4F4B-96D5-E8DCB729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241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7FAFC"/>
                </a:solidFill>
              </a:defRPr>
            </a:pPr>
            <a:r>
              <a:rPr sz="1200" b="0" i="0">
                <a:solidFill>
                  <a:srgbClr val="F7FAFC"/>
                </a:solidFill>
              </a:rPr>
              <a:t>Map is not wired into live App 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A417F2-79E2-4180-82E6-9DE27F29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09BC1C-B033-458E-8567-5C9DB314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623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7FAFC"/>
                </a:solidFill>
              </a:defRPr>
            </a:pPr>
            <a:r>
              <a:rPr sz="1200" b="0" i="0">
                <a:solidFill>
                  <a:srgbClr val="F7FAFC"/>
                </a:solidFill>
              </a:rPr>
              <a:t>Resource inventory is seeded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9F1049-0B66-47E0-BAA6-00EEC08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5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35F852-3CE4-482D-8224-55CF6893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004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7FAFC"/>
                </a:solidFill>
              </a:defRPr>
            </a:pPr>
            <a:r>
              <a:rPr sz="1200" b="0" i="0">
                <a:solidFill>
                  <a:srgbClr val="F7FAFC"/>
                </a:solidFill>
              </a:rPr>
              <a:t>Authentication is demo-level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2C8CB9-6434-4CDD-AF48-EF350069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AFC"/>
                </a:solidFill>
              </a:defRPr>
            </a:pPr>
            <a:r>
              <a:rPr sz="1650" b="1" i="0">
                <a:solidFill>
                  <a:srgbClr val="F7FAFC"/>
                </a:solidFill>
              </a:rPr>
              <a:t>PLANNED / OUT OF SCOPE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AA2308-6545-4354-84C6-AC60C00D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7FAF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DBCDD3-375F-4583-8CEB-99442210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67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571163-34BE-4B8C-AEDB-F31302D9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099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7FAFC"/>
                </a:solidFill>
              </a:defRPr>
            </a:pPr>
            <a:r>
              <a:rPr sz="1200" b="0" i="0">
                <a:solidFill>
                  <a:srgbClr val="F7FAFC"/>
                </a:solidFill>
              </a:rPr>
              <a:t>Live government resource feed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EF18B7-9195-4940-A2B5-C407498A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A08AEC-F3AA-4EC5-B3E5-B7F2C0FE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481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7FAFC"/>
                </a:solidFill>
              </a:defRPr>
            </a:pPr>
            <a:r>
              <a:rPr sz="1200" b="0" i="0">
                <a:solidFill>
                  <a:srgbClr val="F7FAFC"/>
                </a:solidFill>
              </a:rPr>
              <a:t>Production identity and roles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D3B843-9330-4E08-B77E-5BCC8AE4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8D8945-6C01-4512-94BC-5025FF11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862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7FAFC"/>
                </a:solidFill>
              </a:defRPr>
            </a:pPr>
            <a:r>
              <a:rPr sz="1200" b="0" i="0">
                <a:solidFill>
                  <a:srgbClr val="F7FAFC"/>
                </a:solidFill>
              </a:rPr>
              <a:t>Rate limiting / monitoring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DECC06-2FF9-4B5A-A4A9-98636D38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81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ED1B20-26A5-475D-9431-06E911B0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244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7FAFC"/>
                </a:solidFill>
              </a:defRPr>
            </a:pPr>
            <a:r>
              <a:rPr sz="1200" b="0" i="0">
                <a:solidFill>
                  <a:srgbClr val="F7FAFC"/>
                </a:solidFill>
              </a:rPr>
              <a:t>Automated emergency dispatch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FC5B7D-36B6-40C7-B151-5F000E2E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FFD16F-A363-4E1F-986D-E8F992CC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883556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8066CA-786A-49FC-AE63-87901A0A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16 / RELIABILITY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28D05-7631-4A7D-93EB-62A81F83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The critical failure points are visible in the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3FA03-55EB-4049-A993-868553FE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4F0F7085-ACA9-4E57-BEFB-E89D9032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171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INPUT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WhatsApp /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6F41C-28C3-4F18-BE17-04F40A3D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ACKEND">
            <a:extLst xmlns:a="http://schemas.openxmlformats.org/drawingml/2006/main">
              <a:ext uri="{FF2B5EF4-FFF2-40B4-BE49-F238E27FC236}">
                <a16:creationId xmlns:a16="http://schemas.microsoft.com/office/drawing/2014/main" id="{CED47F5F-DA71-4BA4-AFEF-0B755A1E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71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BACKEND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BD3AF-F23E-4C58-A492-7DF4F9CD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ATABASE">
            <a:extLst xmlns:a="http://schemas.openxmlformats.org/drawingml/2006/main">
              <a:ext uri="{FF2B5EF4-FFF2-40B4-BE49-F238E27FC236}">
                <a16:creationId xmlns:a16="http://schemas.microsoft.com/office/drawing/2014/main" id="{35F82851-F52B-4A3A-8872-E124C333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67000"/>
            <a:ext cx="171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DATABASE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DDFF7-A2C1-4861-8A62-4E1C11F0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67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PI">
            <a:extLst xmlns:a="http://schemas.openxmlformats.org/drawingml/2006/main">
              <a:ext uri="{FF2B5EF4-FFF2-40B4-BE49-F238E27FC236}">
                <a16:creationId xmlns:a16="http://schemas.microsoft.com/office/drawing/2014/main" id="{B97F6973-15C7-42D0-9F8F-E72A3F36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API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REST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3DA2B-2BAF-4567-90F6-159916FB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UI">
            <a:extLst xmlns:a="http://schemas.openxmlformats.org/drawingml/2006/main">
              <a:ext uri="{FF2B5EF4-FFF2-40B4-BE49-F238E27FC236}">
                <a16:creationId xmlns:a16="http://schemas.microsoft.com/office/drawing/2014/main" id="{CEB7364B-FB40-4C34-8A61-9302EB64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0"/>
            <a:ext cx="952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UI</a:t>
            </a:r>
          </a:p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React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F2572-D72F-497B-85A6-45FF5530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1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19350" y="30289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48250" y="30289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A5FF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77150" y="30289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0020300" y="30289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53D66-6938-4AC6-9A7A-92D118E5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A1820"/>
          </a:solidFill>
          <a:ln xmlns:a="http://schemas.openxmlformats.org/drawingml/2006/main" w="9525">
            <a:solidFill>
              <a:srgbClr val="FF5D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5D6C"/>
                </a:solidFill>
              </a:defRPr>
            </a:pPr>
            <a:r>
              <a:rPr sz="975" b="1">
                <a:solidFill>
                  <a:srgbClr val="FF5D6C"/>
                </a:solidFill>
              </a:rPr>
              <a:t>R1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BD2AC0-5CCD-4B43-8FCE-4F8D13D8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434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7FAFC"/>
                </a:solidFill>
              </a:defRPr>
            </a:pPr>
            <a:r>
              <a:rPr sz="1050" b="1" i="0">
                <a:solidFill>
                  <a:srgbClr val="F7FAFC"/>
                </a:solidFill>
              </a:rPr>
              <a:t>Webhook spoofing / no signature 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37E9E-9847-4AEE-AB8E-1546C6F2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243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A1820"/>
          </a:solidFill>
          <a:ln xmlns:a="http://schemas.openxmlformats.org/drawingml/2006/main" w="9525">
            <a:solidFill>
              <a:srgbClr val="FF5D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5D6C"/>
                </a:solidFill>
              </a:defRPr>
            </a:pPr>
            <a:r>
              <a:rPr sz="975" b="1">
                <a:solidFill>
                  <a:srgbClr val="FF5D6C"/>
                </a:solidFill>
              </a:rPr>
              <a:t>R2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3221F-6A14-4CF6-95B8-0761C625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434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7FAFC"/>
                </a:solidFill>
              </a:defRPr>
            </a:pPr>
            <a:r>
              <a:rPr sz="1050" b="1" i="0">
                <a:solidFill>
                  <a:srgbClr val="F7FAFC"/>
                </a:solidFill>
              </a:rPr>
              <a:t>Race risk in resource assignment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0F297E-9778-487B-9753-51BEAF31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243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A1820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85F"/>
                </a:solidFill>
              </a:defRPr>
            </a:pPr>
            <a:r>
              <a:rPr sz="975" b="1">
                <a:solidFill>
                  <a:srgbClr val="F6C85F"/>
                </a:solidFill>
              </a:rPr>
              <a:t>R3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A91922-D118-4047-A43F-17366978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434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7FAFC"/>
                </a:solidFill>
              </a:defRPr>
            </a:pPr>
            <a:r>
              <a:rPr sz="1050" b="1" i="0">
                <a:solidFill>
                  <a:srgbClr val="F7FAFC"/>
                </a:solidFill>
              </a:rPr>
              <a:t>Frontend auth accepts any non-empty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ECC8A5-4E98-4BD6-8056-5507E543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2435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A1820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85F"/>
                </a:solidFill>
              </a:defRPr>
            </a:pPr>
            <a:r>
              <a:rPr sz="975" b="1">
                <a:solidFill>
                  <a:srgbClr val="F6C85F"/>
                </a:solidFill>
              </a:rPr>
              <a:t>R4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A787E0-9FF9-4D7C-9019-3E3B87BC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434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7FAFC"/>
                </a:solidFill>
              </a:defRPr>
            </a:pPr>
            <a:r>
              <a:rPr sz="1050" b="1" i="0">
                <a:solidFill>
                  <a:srgbClr val="F7FAFC"/>
                </a:solidFill>
              </a:rPr>
              <a:t>Free-tier sleep delays first request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2DD903-F4D1-41E2-A6DD-78B7A0E4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79E408-92FA-45A6-A0A1-444F72EE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06862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C6AFBF-3E2F-4A02-B963-25B0F1EE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17 / SECURITY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9EC96-DA85-4F9F-931C-17B27031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The prototype has useful controls, but the trust boundary is still thin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6C538-96C0-41DA-9812-D01FF3FE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Citizen">
            <a:extLst xmlns:a="http://schemas.openxmlformats.org/drawingml/2006/main">
              <a:ext uri="{FF2B5EF4-FFF2-40B4-BE49-F238E27FC236}">
                <a16:creationId xmlns:a16="http://schemas.microsoft.com/office/drawing/2014/main" id="{6FE14B9C-ED85-479F-ADDA-06A74897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Citizen</a:t>
            </a:r>
          </a:p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outside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244AA-6366-4192-8EE4-30C2D0BD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hatsApp / Meta">
            <a:extLst xmlns:a="http://schemas.openxmlformats.org/drawingml/2006/main">
              <a:ext uri="{FF2B5EF4-FFF2-40B4-BE49-F238E27FC236}">
                <a16:creationId xmlns:a16="http://schemas.microsoft.com/office/drawing/2014/main" id="{A1060A4C-ABC5-46BD-820F-8786E3F8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8600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WhatsApp / Meta</a:t>
            </a:r>
          </a:p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platform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33376-5DDC-4ADE-AB93-2D79EE40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860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09800" y="2714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sp>
        <p:nvSpPr>
          <p:cNvPr id="9" name="Webhook">
            <a:extLst xmlns:a="http://schemas.openxmlformats.org/drawingml/2006/main">
              <a:ext uri="{FF2B5EF4-FFF2-40B4-BE49-F238E27FC236}">
                <a16:creationId xmlns:a16="http://schemas.microsoft.com/office/drawing/2014/main" id="{652787F8-6A71-4B2F-858A-FD8BEB58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Webhook</a:t>
            </a:r>
          </a:p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token handshake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B3B9C-CA4F-4C73-A949-653006DB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19550" y="2714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sp>
        <p:nvSpPr>
          <p:cNvPr id="12" name="Backend">
            <a:extLst xmlns:a="http://schemas.openxmlformats.org/drawingml/2006/main">
              <a:ext uri="{FF2B5EF4-FFF2-40B4-BE49-F238E27FC236}">
                <a16:creationId xmlns:a16="http://schemas.microsoft.com/office/drawing/2014/main" id="{AE9FD48C-5CD6-49BC-95C1-9CB047D9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8600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Backend</a:t>
            </a:r>
          </a:p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CORS + parameterized 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F42C7-2C7B-492F-AC02-A095D76C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860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29300" y="2714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sp>
        <p:nvSpPr>
          <p:cNvPr id="15" name="Database">
            <a:extLst xmlns:a="http://schemas.openxmlformats.org/drawingml/2006/main">
              <a:ext uri="{FF2B5EF4-FFF2-40B4-BE49-F238E27FC236}">
                <a16:creationId xmlns:a16="http://schemas.microsoft.com/office/drawing/2014/main" id="{A2A7C700-3154-4E30-A6EE-ADB515BD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Database</a:t>
            </a:r>
          </a:p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raw sensitive 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E5A208-E3EF-44DB-A62D-A3E273A9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639050" y="2714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6C85F"/>
            </a:solidFill>
            <a:prstDash val="solid"/>
            <a:tailEnd type="triangle" w="sm" len="sm"/>
          </a:ln>
        </p:spPr>
      </p:cxnSp>
      <p:sp>
        <p:nvSpPr>
          <p:cNvPr id="18" name="Frontend">
            <a:extLst xmlns:a="http://schemas.openxmlformats.org/drawingml/2006/main">
              <a:ext uri="{FF2B5EF4-FFF2-40B4-BE49-F238E27FC236}">
                <a16:creationId xmlns:a16="http://schemas.microsoft.com/office/drawing/2014/main" id="{F26DAA8A-9F5B-410D-9B72-20C32F0D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8600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Frontend</a:t>
            </a:r>
          </a:p>
          <a:p xmlns:a="http://schemas.openxmlformats.org/drawingml/2006/main">
            <a:pPr algn="ctr">
              <a:defRPr sz="1125" b="1">
                <a:solidFill>
                  <a:srgbClr val="F7FAFC"/>
                </a:solidFill>
              </a:defRPr>
            </a:pPr>
            <a:r>
              <a:rPr sz="1125" b="1">
                <a:solidFill>
                  <a:srgbClr val="F7FAFC"/>
                </a:solidFill>
              </a:rPr>
              <a:t>demo login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CF4FC-6F4F-4881-B294-8D2AC826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860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6C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4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448800" y="2714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5D6C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74DE0A-A640-452A-8E5E-625D0A03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5D483"/>
                </a:solidFill>
              </a:defRPr>
            </a:pPr>
            <a:r>
              <a:rPr sz="1275" b="1" i="0">
                <a:solidFill>
                  <a:srgbClr val="45D483"/>
                </a:solidFill>
              </a:rPr>
              <a:t>PRESENT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D08C2-7E97-4223-8D2D-2189814E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14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6C85F"/>
                </a:solidFill>
              </a:defRPr>
            </a:pPr>
            <a:r>
              <a:rPr sz="1275" b="1" i="0">
                <a:solidFill>
                  <a:srgbClr val="F6C85F"/>
                </a:solidFill>
              </a:rPr>
              <a:t>needs improvement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415E8-0E07-4F8B-B5E5-F438EC92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1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5D6C"/>
                </a:solidFill>
              </a:defRPr>
            </a:pPr>
            <a:r>
              <a:rPr sz="1275" b="1" i="0">
                <a:solidFill>
                  <a:srgbClr val="FF5D6C"/>
                </a:solidFill>
              </a:rPr>
              <a:t>MISSING / DEMO-LEVEL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B7654C-775F-45C0-8418-ECB66AED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45D4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D483"/>
                </a:solidFill>
              </a:defRPr>
            </a:pPr>
            <a:r>
              <a:rPr sz="975" b="1">
                <a:solidFill>
                  <a:srgbClr val="45D483"/>
                </a:solidFill>
              </a:rPr>
              <a:t>Webhook verify token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A4F7F-1B43-4F3F-B015-9AFE909E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291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45D4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D483"/>
                </a:solidFill>
              </a:defRPr>
            </a:pPr>
            <a:r>
              <a:rPr sz="975" b="1">
                <a:solidFill>
                  <a:srgbClr val="45D483"/>
                </a:solidFill>
              </a:rPr>
              <a:t>Phone-number filtering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B4A8E0-AF6B-4DB2-8355-FB6D25AD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45D4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D483"/>
                </a:solidFill>
              </a:defRPr>
            </a:pPr>
            <a:r>
              <a:rPr sz="975" b="1">
                <a:solidFill>
                  <a:srgbClr val="45D483"/>
                </a:solidFill>
              </a:rPr>
              <a:t>SQL parameters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9E3863-86F9-4F8F-8CD9-35A1BF58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2920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45D4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D483"/>
                </a:solidFill>
              </a:defRPr>
            </a:pPr>
            <a:r>
              <a:rPr sz="975" b="1">
                <a:solidFill>
                  <a:srgbClr val="45D483"/>
                </a:solidFill>
              </a:rPr>
              <a:t>Origin allow-list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431232-B30E-4D84-83A3-2790949D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29150"/>
            <a:ext cx="2286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85F"/>
                </a:solidFill>
              </a:defRPr>
            </a:pPr>
            <a:r>
              <a:rPr sz="975" b="1">
                <a:solidFill>
                  <a:srgbClr val="F6C85F"/>
                </a:solidFill>
              </a:rPr>
              <a:t>Sensitive phone/report 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ABEBA6-5063-42B0-9032-9095F0D3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29200"/>
            <a:ext cx="2286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C85F"/>
                </a:solidFill>
              </a:defRPr>
            </a:pPr>
            <a:r>
              <a:rPr sz="975" b="1">
                <a:solidFill>
                  <a:srgbClr val="F6C85F"/>
                </a:solidFill>
              </a:rPr>
              <a:t>Loose preview-origin regex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D017E1-4F73-42F3-8370-ABB0E390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291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FF5D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5D6C"/>
                </a:solidFill>
              </a:defRPr>
            </a:pPr>
            <a:r>
              <a:rPr sz="975" b="1">
                <a:solidFill>
                  <a:srgbClr val="FF5D6C"/>
                </a:solidFill>
              </a:rPr>
              <a:t>Signature validation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3AFFB0-C3A2-4FC3-86E7-172D2E98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291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FF5D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5D6C"/>
                </a:solidFill>
              </a:defRPr>
            </a:pPr>
            <a:r>
              <a:rPr sz="975" b="1">
                <a:solidFill>
                  <a:srgbClr val="FF5D6C"/>
                </a:solidFill>
              </a:rPr>
              <a:t>Auth / roles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1D7924-5AC6-4E67-998F-DFEA0CF9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2920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FF5D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5D6C"/>
                </a:solidFill>
              </a:defRPr>
            </a:pPr>
            <a:r>
              <a:rPr sz="975" b="1">
                <a:solidFill>
                  <a:srgbClr val="FF5D6C"/>
                </a:solidFill>
              </a:rPr>
              <a:t>Rate limiting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FFC24C-0506-4766-B496-694D799C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A16D6B-1409-4AE9-B408-B4E2585A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928237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C7898B-468B-416A-9D0C-F0551318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18 / NEXT IMPROVEMENTS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6F38A-EE22-4729-ABD7-3D13C496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Five changes would make the demo safer to extend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1729F-AAEB-4A92-8B4C-776009F0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8F1BE-585B-4984-B454-9BD9F6EC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5D6C"/>
                </a:solidFill>
              </a:defRPr>
            </a:pPr>
            <a:r>
              <a:rPr sz="1800" b="1" i="0">
                <a:solidFill>
                  <a:srgbClr val="FF5D6C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01EE0-AAF3-41B7-A862-6E00FD38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43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7FAFC"/>
                </a:solidFill>
              </a:defRPr>
            </a:pPr>
            <a:r>
              <a:rPr sz="1575" b="1" i="0">
                <a:solidFill>
                  <a:srgbClr val="F7FAFC"/>
                </a:solidFill>
              </a:rPr>
              <a:t>Webhook authenticity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597E1-7839-468B-B664-E987F5A5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621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7"/>
                </a:solidFill>
              </a:defRPr>
            </a:pPr>
            <a:r>
              <a:rPr sz="1350" b="0" i="0">
                <a:solidFill>
                  <a:srgbClr val="A9B7C7"/>
                </a:solidFill>
              </a:rPr>
              <a:t>validate Meta request signatures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14EBF-930B-46DE-BA2E-9556D351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193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61056-B128-472C-9A9E-24ADE910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5D6C"/>
                </a:solidFill>
              </a:defRPr>
            </a:pPr>
            <a:r>
              <a:rPr sz="1800" b="1" i="0">
                <a:solidFill>
                  <a:srgbClr val="FF5D6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DF639-29CD-4C6D-AD46-7D29CF79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7FAFC"/>
                </a:solidFill>
              </a:defRPr>
            </a:pPr>
            <a:r>
              <a:rPr sz="1575" b="1" i="0">
                <a:solidFill>
                  <a:srgbClr val="F7FAFC"/>
                </a:solidFill>
              </a:rPr>
              <a:t>Atomic assignments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1CDEE-30DF-4AA3-8701-C50C5F50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003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7"/>
                </a:solidFill>
              </a:defRPr>
            </a:pPr>
            <a:r>
              <a:rPr sz="1350" b="0" i="0">
                <a:solidFill>
                  <a:srgbClr val="A9B7C7"/>
                </a:solidFill>
              </a:rPr>
              <a:t>make check-and-commit one transaction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86CF5-4138-43A7-A4E4-E5060E08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EDF2B-B634-4DA9-BFDA-5A3AA2F0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6C85F"/>
                </a:solidFill>
              </a:defRPr>
            </a:pPr>
            <a:r>
              <a:rPr sz="1800" b="1" i="0">
                <a:solidFill>
                  <a:srgbClr val="F6C85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C5F3C-04F2-476B-9F13-03169605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19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7FAFC"/>
                </a:solidFill>
              </a:defRPr>
            </a:pPr>
            <a:r>
              <a:rPr sz="1575" b="1" i="0">
                <a:solidFill>
                  <a:srgbClr val="F7FAFC"/>
                </a:solidFill>
              </a:rPr>
              <a:t>API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CF3C8-77B2-4771-BD65-C5B3EC3C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7"/>
                </a:solidFill>
              </a:defRPr>
            </a:pPr>
            <a:r>
              <a:rPr sz="1350" b="0" i="0">
                <a:solidFill>
                  <a:srgbClr val="A9B7C7"/>
                </a:solidFill>
              </a:rPr>
              <a:t>typed request models +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D81D5-FE8B-4472-84C1-67A7349F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957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06885-42A3-438F-9309-E40764CF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6C85F"/>
                </a:solidFill>
              </a:defRPr>
            </a:pPr>
            <a:r>
              <a:rPr sz="1800" b="1" i="0">
                <a:solidFill>
                  <a:srgbClr val="F6C85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B7D77-EF03-4021-AA57-8EC540FE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57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7FAFC"/>
                </a:solidFill>
              </a:defRPr>
            </a:pPr>
            <a:r>
              <a:rPr sz="1575" b="1" i="0">
                <a:solidFill>
                  <a:srgbClr val="F7FAFC"/>
                </a:solidFill>
              </a:rPr>
              <a:t>Real access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18496-594B-4310-8C98-53D0CE35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7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7"/>
                </a:solidFill>
              </a:defRPr>
            </a:pPr>
            <a:r>
              <a:rPr sz="1350" b="0" i="0">
                <a:solidFill>
                  <a:srgbClr val="A9B7C7"/>
                </a:solidFill>
              </a:rPr>
              <a:t>replace demo login with roles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7D955-8E90-4111-B58B-CE762052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339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D9FE6-74CB-4F7A-8AA5-8EC50062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45D483"/>
                </a:solidFill>
              </a:defRPr>
            </a:pPr>
            <a:r>
              <a:rPr sz="1800" b="1" i="0">
                <a:solidFill>
                  <a:srgbClr val="45D483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EF89D4-BA5E-4560-B7D2-A760066D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7FAFC"/>
                </a:solidFill>
              </a:defRPr>
            </a:pPr>
            <a:r>
              <a:rPr sz="1575" b="1" i="0">
                <a:solidFill>
                  <a:srgbClr val="F7FAFC"/>
                </a:solidFill>
              </a:rPr>
              <a:t>Operational visibility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9EF012-2BE4-4336-AF66-B1A69094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149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7"/>
                </a:solidFill>
              </a:defRPr>
            </a:pPr>
            <a:r>
              <a:rPr sz="1350" b="0" i="0">
                <a:solidFill>
                  <a:srgbClr val="A9B7C7"/>
                </a:solidFill>
              </a:rPr>
              <a:t>structured logs + uptime alerts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32B82C-DFE2-4028-9E00-EBE465A9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721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F5C0A-47A5-493A-A123-4DE05B59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924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F6C85F"/>
                </a:solidFill>
              </a:defRPr>
            </a:pPr>
            <a:r>
              <a:rPr sz="1200" b="0" i="1">
                <a:solidFill>
                  <a:srgbClr val="F6C85F"/>
                </a:solidFill>
              </a:rPr>
              <a:t>These are follow-on hardening steps, not claims about what the hackathon build already does.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84E481-AB3E-4825-AC83-6C4EAFC4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BC6243-04D3-4035-8484-FFC64259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400346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EFEA4D-67FA-4613-9C86-BCF48B6F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19 / BEFORE -&gt; AFTER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7EB11-3FAC-4CE5-8AF4-19A66990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The next version adds trust and observability around the same core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FF54F-1BA7-4A90-8911-40ED8A1C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6C851-9CB8-4E12-AE5A-628D1AB4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57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6C85F"/>
                </a:solidFill>
              </a:defRPr>
            </a:pPr>
            <a:r>
              <a:rPr sz="1500" b="1" i="0">
                <a:solidFill>
                  <a:srgbClr val="F6C85F"/>
                </a:solidFill>
              </a:rPr>
              <a:t>CURRENT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EBFD9-FBEE-4D4D-8260-C3D83A7C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57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5D483"/>
                </a:solidFill>
              </a:defRPr>
            </a:pPr>
            <a:r>
              <a:rPr sz="1500" b="1" i="0">
                <a:solidFill>
                  <a:srgbClr val="45D483"/>
                </a:solidFill>
              </a:rPr>
              <a:t>HARDENED PATH</a:t>
            </a:r>
          </a:p>
        </p:txBody>
      </p:sp>
      <p:sp>
        <p:nvSpPr>
          <p:cNvPr id="6" name="Input">
            <a:extLst xmlns:a="http://schemas.openxmlformats.org/drawingml/2006/main">
              <a:ext uri="{FF2B5EF4-FFF2-40B4-BE49-F238E27FC236}">
                <a16:creationId xmlns:a16="http://schemas.microsoft.com/office/drawing/2014/main" id="{99B2F051-FCC3-4661-AE39-1FD0F2F8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2476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Input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current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B7C2E-EB68-46A1-A572-79103F0F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ebhook">
            <a:extLst xmlns:a="http://schemas.openxmlformats.org/drawingml/2006/main">
              <a:ext uri="{FF2B5EF4-FFF2-40B4-BE49-F238E27FC236}">
                <a16:creationId xmlns:a16="http://schemas.microsoft.com/office/drawing/2014/main" id="{2F3164FE-C714-41CA-864D-A0B81BF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2476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Webhook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token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BCD68-7A13-40BE-9505-CDD9FDF2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cess">
            <a:extLst xmlns:a="http://schemas.openxmlformats.org/drawingml/2006/main">
              <a:ext uri="{FF2B5EF4-FFF2-40B4-BE49-F238E27FC236}">
                <a16:creationId xmlns:a16="http://schemas.microsoft.com/office/drawing/2014/main" id="{FD4F5662-25A9-4F91-B0A3-D6D813C6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14700"/>
            <a:ext cx="2476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Process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current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25F78-334A-49A1-BC7F-E8383962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1470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ore">
            <a:extLst xmlns:a="http://schemas.openxmlformats.org/drawingml/2006/main">
              <a:ext uri="{FF2B5EF4-FFF2-40B4-BE49-F238E27FC236}">
                <a16:creationId xmlns:a16="http://schemas.microsoft.com/office/drawing/2014/main" id="{C179B918-A870-4C0F-A97A-C2BCAD16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2476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Store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current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069A1-5B96-44FE-A16F-B3CFAABA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PI">
            <a:extLst xmlns:a="http://schemas.openxmlformats.org/drawingml/2006/main">
              <a:ext uri="{FF2B5EF4-FFF2-40B4-BE49-F238E27FC236}">
                <a16:creationId xmlns:a16="http://schemas.microsoft.com/office/drawing/2014/main" id="{A8ABDECD-A732-48FE-8A5A-38487120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2476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API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current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6EC7F-9E5F-4032-861D-BCD793A5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UI">
            <a:extLst xmlns:a="http://schemas.openxmlformats.org/drawingml/2006/main">
              <a:ext uri="{FF2B5EF4-FFF2-40B4-BE49-F238E27FC236}">
                <a16:creationId xmlns:a16="http://schemas.microsoft.com/office/drawing/2014/main" id="{2F073699-ED68-4DDF-975B-43377B6D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86350"/>
            <a:ext cx="2476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UI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current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2B774-12C9-4847-8E6C-8F1B1DCA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863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nput">
            <a:extLst xmlns:a="http://schemas.openxmlformats.org/drawingml/2006/main">
              <a:ext uri="{FF2B5EF4-FFF2-40B4-BE49-F238E27FC236}">
                <a16:creationId xmlns:a16="http://schemas.microsoft.com/office/drawing/2014/main" id="{A093D47D-AC61-4FFF-8DB2-61BCC30A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2857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Input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trust 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D777A-FAEB-4141-B0CF-0E88CE00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Verify">
            <a:extLst xmlns:a="http://schemas.openxmlformats.org/drawingml/2006/main">
              <a:ext uri="{FF2B5EF4-FFF2-40B4-BE49-F238E27FC236}">
                <a16:creationId xmlns:a16="http://schemas.microsoft.com/office/drawing/2014/main" id="{D7118A6C-56A7-4B20-BB05-A16F30E3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2857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Verify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trust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A20733-A17B-49FB-A3E7-0C7A72AD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Validate">
            <a:extLst xmlns:a="http://schemas.openxmlformats.org/drawingml/2006/main">
              <a:ext uri="{FF2B5EF4-FFF2-40B4-BE49-F238E27FC236}">
                <a16:creationId xmlns:a16="http://schemas.microsoft.com/office/drawing/2014/main" id="{6A038228-FD1A-4CD1-8160-928E1960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2857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Validate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6175EA-51CF-4F08-ABD2-7C678BD1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ocess">
            <a:extLst xmlns:a="http://schemas.openxmlformats.org/drawingml/2006/main">
              <a:ext uri="{FF2B5EF4-FFF2-40B4-BE49-F238E27FC236}">
                <a16:creationId xmlns:a16="http://schemas.microsoft.com/office/drawing/2014/main" id="{8BDA22B2-CBAD-4981-BC9D-EDD69F5A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57600"/>
            <a:ext cx="2857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Process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8F6D47-EBCE-41DB-B2D7-7EC4317D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5760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ore atomically">
            <a:extLst xmlns:a="http://schemas.openxmlformats.org/drawingml/2006/main">
              <a:ext uri="{FF2B5EF4-FFF2-40B4-BE49-F238E27FC236}">
                <a16:creationId xmlns:a16="http://schemas.microsoft.com/office/drawing/2014/main" id="{71D6AD89-1077-4454-BEAB-5D7A9201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2857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Store atomically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control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F2F29-E2BF-4650-9154-74FC126E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PI + auth">
            <a:extLst xmlns:a="http://schemas.openxmlformats.org/drawingml/2006/main">
              <a:ext uri="{FF2B5EF4-FFF2-40B4-BE49-F238E27FC236}">
                <a16:creationId xmlns:a16="http://schemas.microsoft.com/office/drawing/2014/main" id="{A16E3000-EE9C-4E70-A4A7-FD7450D5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38700"/>
            <a:ext cx="2857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API + auth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9F7AF4-6AD2-4D89-8C2B-A5E95F88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3870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UI + monitoring">
            <a:extLst xmlns:a="http://schemas.openxmlformats.org/drawingml/2006/main">
              <a:ext uri="{FF2B5EF4-FFF2-40B4-BE49-F238E27FC236}">
                <a16:creationId xmlns:a16="http://schemas.microsoft.com/office/drawing/2014/main" id="{F24394A2-5334-4660-AB0D-F21741D0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2857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UI + monitoring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control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50E1F3-69B4-4D67-A81A-2C0D220E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7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476500" y="25527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B52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476500" y="31432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B52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476500" y="37338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B52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2476500" y="43243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B52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2476500" y="49149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B52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953500" y="23050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953500" y="28956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8953500" y="34861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24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953500" y="40767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26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953500" y="46672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28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8953500" y="52578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8F9764-B322-4E4D-90C4-9F7B8CD8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734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7FAFC"/>
                </a:solidFill>
              </a:defRPr>
            </a:pPr>
            <a:r>
              <a:rPr sz="1425" b="1" i="0">
                <a:solidFill>
                  <a:srgbClr val="F7FAFC"/>
                </a:solidFill>
              </a:rPr>
              <a:t>Keep the useful shape. Add the missing controls at the boundaries.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ADA03F-5641-4A7F-80B5-708C807A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230D9A-6570-4700-82B9-2A0A639E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880447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A6700F-6BA8-4081-8BC4-D0A5CFB4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20 / THE WHOLE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FAA11-5BC0-4318-B427-62A38956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AapdaAI in one picture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95E73-ED0D-4E70-A157-9070F9BE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AAPDAAI">
            <a:extLst xmlns:a="http://schemas.openxmlformats.org/drawingml/2006/main">
              <a:ext uri="{FF2B5EF4-FFF2-40B4-BE49-F238E27FC236}">
                <a16:creationId xmlns:a16="http://schemas.microsoft.com/office/drawing/2014/main" id="{908F7EA5-5F1F-4975-BC27-9C1E8221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667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AAPDAAI</a:t>
            </a:r>
          </a:p>
          <a:p xmlns:a="http://schemas.openxmlformats.org/drawingml/2006/main">
            <a:pPr algn="ctr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decision-support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DF39D-7AC3-4B31-AC1E-87D31274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PORTING">
            <a:extLst xmlns:a="http://schemas.openxmlformats.org/drawingml/2006/main">
              <a:ext uri="{FF2B5EF4-FFF2-40B4-BE49-F238E27FC236}">
                <a16:creationId xmlns:a16="http://schemas.microsoft.com/office/drawing/2014/main" id="{C1A3314C-FB01-498D-9D6C-EC37D2FD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REPORTING</a:t>
            </a:r>
          </a:p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WhatsApp + web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80873-7DC3-44AC-B670-DC4D4983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CESSING">
            <a:extLst xmlns:a="http://schemas.openxmlformats.org/drawingml/2006/main">
              <a:ext uri="{FF2B5EF4-FFF2-40B4-BE49-F238E27FC236}">
                <a16:creationId xmlns:a16="http://schemas.microsoft.com/office/drawing/2014/main" id="{3A5DE1A1-CD8A-4F8B-8BC7-91540C88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PROCESSING</a:t>
            </a:r>
          </a:p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extract + cluster +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BB46C-67D2-4C5C-820A-B39748C1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CISION">
            <a:extLst xmlns:a="http://schemas.openxmlformats.org/drawingml/2006/main">
              <a:ext uri="{FF2B5EF4-FFF2-40B4-BE49-F238E27FC236}">
                <a16:creationId xmlns:a16="http://schemas.microsoft.com/office/drawing/2014/main" id="{E85AED06-EEB5-4A0C-9440-44E41E36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2286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DECISION</a:t>
            </a:r>
          </a:p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triage + verify + assign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83277-BE32-4F11-B3F5-60EDFED0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UTCOME">
            <a:extLst xmlns:a="http://schemas.openxmlformats.org/drawingml/2006/main">
              <a:ext uri="{FF2B5EF4-FFF2-40B4-BE49-F238E27FC236}">
                <a16:creationId xmlns:a16="http://schemas.microsoft.com/office/drawing/2014/main" id="{A9D225B2-7D2F-4EDF-B990-CA2BA713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2286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OUTCOME</a:t>
            </a:r>
          </a:p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assistance + arrival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8CF63-ED0A-4E3E-9B7E-14F6EB09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ATABASE">
            <a:extLst xmlns:a="http://schemas.openxmlformats.org/drawingml/2006/main">
              <a:ext uri="{FF2B5EF4-FFF2-40B4-BE49-F238E27FC236}">
                <a16:creationId xmlns:a16="http://schemas.microsoft.com/office/drawing/2014/main" id="{C89DF10A-7B27-4A83-BF6F-BCEF536F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2667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DATABASE</a:t>
            </a:r>
          </a:p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raw evidence +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FFEB3-4852-4A84-8AEC-F6F7D21F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238500" y="1914525"/>
            <a:ext cx="1524000" cy="1038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619500" y="2952750"/>
            <a:ext cx="1143000" cy="1438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7A6E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429500" y="1914525"/>
            <a:ext cx="1524000" cy="1038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6C85F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4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29500" y="2952750"/>
            <a:ext cx="1524000" cy="1438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4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96000" y="3429000"/>
            <a:ext cx="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A5FF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169DC-29A1-4F76-BB08-63EB0F78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55636-CAE4-4BE2-B65A-A919097B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221919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D774AE-6F44-4CD9-8071-B24F0C6C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21 / HOW TO READ THE REPOS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53804-0AFA-4A09-B0CE-C05DA2E3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The codebase has a clear starting point for every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13C3E-4681-458A-BEF7-BC7EB645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BACKEND">
            <a:extLst xmlns:a="http://schemas.openxmlformats.org/drawingml/2006/main">
              <a:ext uri="{FF2B5EF4-FFF2-40B4-BE49-F238E27FC236}">
                <a16:creationId xmlns:a16="http://schemas.microsoft.com/office/drawing/2014/main" id="{FDD778B1-CD27-40BF-BB6D-9D3E9F5C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BACKEND</a:t>
            </a:r>
          </a:p>
          <a:p xmlns:a="http://schemas.openxmlformats.org/drawingml/2006/main">
            <a:pPr algn="ctr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aapdaai-backend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F94F6-D45E-488A-9FA9-2E64643C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RONTEND">
            <a:extLst xmlns:a="http://schemas.openxmlformats.org/drawingml/2006/main">
              <a:ext uri="{FF2B5EF4-FFF2-40B4-BE49-F238E27FC236}">
                <a16:creationId xmlns:a16="http://schemas.microsoft.com/office/drawing/2014/main" id="{E906836E-A14C-4575-B8F4-AB2B3C2E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19250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FRONTEND</a:t>
            </a:r>
          </a:p>
          <a:p xmlns:a="http://schemas.openxmlformats.org/drawingml/2006/main">
            <a:pPr algn="ctr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Aapda_AI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DF54B-CC6F-475F-94B5-93558484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192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utes">
            <a:extLst xmlns:a="http://schemas.openxmlformats.org/drawingml/2006/main">
              <a:ext uri="{FF2B5EF4-FFF2-40B4-BE49-F238E27FC236}">
                <a16:creationId xmlns:a16="http://schemas.microsoft.com/office/drawing/2014/main" id="{C43862CB-55AA-4BC2-8E61-55F6706C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2857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Routes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app/main.py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CE86F-3498-4F6D-A7C4-70A3B575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6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362200" y="22860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6E"/>
            </a:solidFill>
            <a:prstDash val="solid"/>
            <a:tailEnd type="triangle" w="sm" len="sm"/>
          </a:ln>
        </p:spPr>
      </p:cxnSp>
      <p:sp>
        <p:nvSpPr>
          <p:cNvPr id="11" name="Parsing">
            <a:extLst xmlns:a="http://schemas.openxmlformats.org/drawingml/2006/main">
              <a:ext uri="{FF2B5EF4-FFF2-40B4-BE49-F238E27FC236}">
                <a16:creationId xmlns:a16="http://schemas.microsoft.com/office/drawing/2014/main" id="{436A7A1F-06BB-4B81-8DC8-AB105548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857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Parsing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app/extract.py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4E71E-5006-4DA5-BC3A-169E761D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9" name=""/>
          <p:cNvCxnSpPr>
            <a:stCxn xmlns:a="http://schemas.openxmlformats.org/drawingml/2006/main" id="4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362200" y="2286000"/>
            <a:ext cx="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6E"/>
            </a:solidFill>
            <a:prstDash val="solid"/>
            <a:tailEnd type="triangle" w="sm" len="sm"/>
          </a:ln>
        </p:spPr>
      </p:cxnSp>
      <p:sp>
        <p:nvSpPr>
          <p:cNvPr id="14" name="Flow">
            <a:extLst xmlns:a="http://schemas.openxmlformats.org/drawingml/2006/main">
              <a:ext uri="{FF2B5EF4-FFF2-40B4-BE49-F238E27FC236}">
                <a16:creationId xmlns:a16="http://schemas.microsoft.com/office/drawing/2014/main" id="{741DAB81-1AF5-4898-8692-D3F8BA3C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857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Flow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app/pipeline.py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2EE3F-0C1E-49BF-A2F2-25456EDB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2" name=""/>
          <p:cNvCxnSpPr>
            <a:stCxn xmlns:a="http://schemas.openxmlformats.org/drawingml/2006/main" id="4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2362200" y="2286000"/>
            <a:ext cx="0" cy="1504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6E"/>
            </a:solidFill>
            <a:prstDash val="solid"/>
            <a:tailEnd type="triangle" w="sm" len="sm"/>
          </a:ln>
        </p:spPr>
      </p:cxnSp>
      <p:sp>
        <p:nvSpPr>
          <p:cNvPr id="17" name="Scoring">
            <a:extLst xmlns:a="http://schemas.openxmlformats.org/drawingml/2006/main">
              <a:ext uri="{FF2B5EF4-FFF2-40B4-BE49-F238E27FC236}">
                <a16:creationId xmlns:a16="http://schemas.microsoft.com/office/drawing/2014/main" id="{F801D3A3-0894-45C9-915E-FEB7F0E3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2857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Scoring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app/compute.py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C8C40-EA20-4248-A217-72CA9EEA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5" name=""/>
          <p:cNvCxnSpPr>
            <a:stCxn xmlns:a="http://schemas.openxmlformats.org/drawingml/2006/main" id="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2362200" y="2286000"/>
            <a:ext cx="0" cy="2038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6E"/>
            </a:solidFill>
            <a:prstDash val="solid"/>
            <a:tailEnd type="triangle" w="sm" len="sm"/>
          </a:ln>
        </p:spPr>
      </p:cxnSp>
      <p:sp>
        <p:nvSpPr>
          <p:cNvPr id="20" name="Storage">
            <a:extLst xmlns:a="http://schemas.openxmlformats.org/drawingml/2006/main">
              <a:ext uri="{FF2B5EF4-FFF2-40B4-BE49-F238E27FC236}">
                <a16:creationId xmlns:a16="http://schemas.microsoft.com/office/drawing/2014/main" id="{D70BE0B3-3F14-478C-94B4-06473DED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2857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Storage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app/db.py + store.py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838B8-5EF4-4FE6-888C-46C50C14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8" name=""/>
          <p:cNvCxnSpPr>
            <a:stCxn xmlns:a="http://schemas.openxmlformats.org/drawingml/2006/main" id="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2362200" y="2286000"/>
            <a:ext cx="0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6E"/>
            </a:solidFill>
            <a:prstDash val="solid"/>
            <a:tailEnd type="triangle" w="sm" len="sm"/>
          </a:ln>
        </p:spPr>
      </p:cxnSp>
      <p:sp>
        <p:nvSpPr>
          <p:cNvPr id="23" name="Inventory">
            <a:extLst xmlns:a="http://schemas.openxmlformats.org/drawingml/2006/main">
              <a:ext uri="{FF2B5EF4-FFF2-40B4-BE49-F238E27FC236}">
                <a16:creationId xmlns:a16="http://schemas.microsoft.com/office/drawing/2014/main" id="{47DCBA79-04FD-4877-BD2F-791D7E25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2857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Inventory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app/resources.py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D0074E-17F2-4F0A-9453-FC125A49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1" name=""/>
          <p:cNvCxnSpPr>
            <a:stCxn xmlns:a="http://schemas.openxmlformats.org/drawingml/2006/main" id="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2362200" y="2286000"/>
            <a:ext cx="0" cy="3105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6E"/>
            </a:solidFill>
            <a:prstDash val="solid"/>
            <a:tailEnd type="triangle" w="sm" len="sm"/>
          </a:ln>
        </p:spPr>
      </p:cxnSp>
      <p:sp>
        <p:nvSpPr>
          <p:cNvPr id="26" name="API calls">
            <a:extLst xmlns:a="http://schemas.openxmlformats.org/drawingml/2006/main">
              <a:ext uri="{FF2B5EF4-FFF2-40B4-BE49-F238E27FC236}">
                <a16:creationId xmlns:a16="http://schemas.microsoft.com/office/drawing/2014/main" id="{F53B7250-EDE9-4915-9E34-536DBF78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857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API calls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src/api.js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D82C82-08EC-4C9A-B9F3-FC53DEE3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4" name=""/>
          <p:cNvCxnSpPr>
            <a:stCxn xmlns:a="http://schemas.openxmlformats.org/drawingml/2006/main" id="6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9829800" y="22860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sp>
        <p:nvSpPr>
          <p:cNvPr id="29" name="Polling">
            <a:extLst xmlns:a="http://schemas.openxmlformats.org/drawingml/2006/main">
              <a:ext uri="{FF2B5EF4-FFF2-40B4-BE49-F238E27FC236}">
                <a16:creationId xmlns:a16="http://schemas.microsoft.com/office/drawing/2014/main" id="{C021C553-9ED0-49F3-ADF6-274DABDD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2857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Polling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src/useIncidents.js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F734CA-EF69-494D-B5C7-EB1F27DB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7" name=""/>
          <p:cNvCxnSpPr>
            <a:stCxn xmlns:a="http://schemas.openxmlformats.org/drawingml/2006/main" id="6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29800" y="2286000"/>
            <a:ext cx="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sp>
        <p:nvSpPr>
          <p:cNvPr id="32" name="Triage">
            <a:extLst xmlns:a="http://schemas.openxmlformats.org/drawingml/2006/main">
              <a:ext uri="{FF2B5EF4-FFF2-40B4-BE49-F238E27FC236}">
                <a16:creationId xmlns:a16="http://schemas.microsoft.com/office/drawing/2014/main" id="{2E12DD8D-199F-4916-A354-F8364DF5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90950"/>
            <a:ext cx="2857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Triage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src/TriageQueue.jsx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542699-B1D4-4CFD-A066-468827EC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909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0" name=""/>
          <p:cNvCxnSpPr>
            <a:stCxn xmlns:a="http://schemas.openxmlformats.org/drawingml/2006/main" id="6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9829800" y="2286000"/>
            <a:ext cx="0" cy="1504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sp>
        <p:nvSpPr>
          <p:cNvPr id="35" name="Actions">
            <a:extLst xmlns:a="http://schemas.openxmlformats.org/drawingml/2006/main">
              <a:ext uri="{FF2B5EF4-FFF2-40B4-BE49-F238E27FC236}">
                <a16:creationId xmlns:a16="http://schemas.microsoft.com/office/drawing/2014/main" id="{CD89AE18-5AE8-4E2D-ABFD-9BB7CB82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2857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Actions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src/OperatorActions.jsx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4916E4-7027-48AC-BB26-E23AC291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3" name=""/>
          <p:cNvCxnSpPr>
            <a:stCxn xmlns:a="http://schemas.openxmlformats.org/drawingml/2006/main" id="6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9829800" y="2286000"/>
            <a:ext cx="0" cy="2038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sp>
        <p:nvSpPr>
          <p:cNvPr id="38" name="Assistance">
            <a:extLst xmlns:a="http://schemas.openxmlformats.org/drawingml/2006/main">
              <a:ext uri="{FF2B5EF4-FFF2-40B4-BE49-F238E27FC236}">
                <a16:creationId xmlns:a16="http://schemas.microsoft.com/office/drawing/2014/main" id="{9259F34F-9E15-4882-8D47-B607A164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57750"/>
            <a:ext cx="2857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Assistance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src/AssistancePanel.jsx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995C91-B3C0-41C6-9766-5149B32C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577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6" name=""/>
          <p:cNvCxnSpPr>
            <a:stCxn xmlns:a="http://schemas.openxmlformats.org/drawingml/2006/main" id="6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9829800" y="2286000"/>
            <a:ext cx="0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sp>
        <p:nvSpPr>
          <p:cNvPr id="41" name="App shell">
            <a:extLst xmlns:a="http://schemas.openxmlformats.org/drawingml/2006/main">
              <a:ext uri="{FF2B5EF4-FFF2-40B4-BE49-F238E27FC236}">
                <a16:creationId xmlns:a16="http://schemas.microsoft.com/office/drawing/2014/main" id="{19C66DB6-ACFC-4823-8C12-7AB77A98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91150"/>
            <a:ext cx="2857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App shell</a:t>
            </a:r>
          </a:p>
          <a:p xmlns:a="http://schemas.openxmlformats.org/drawingml/2006/main">
            <a:pPr algn="ctr">
              <a:defRPr sz="975" b="1">
                <a:solidFill>
                  <a:srgbClr val="F7FAFC"/>
                </a:solidFill>
              </a:defRPr>
            </a:pPr>
            <a:r>
              <a:rPr sz="975" b="1">
                <a:solidFill>
                  <a:srgbClr val="F7FAFC"/>
                </a:solidFill>
              </a:rPr>
              <a:t>src/App.jsx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79AA92-3B1D-4FEE-A4C4-1ECEE5BE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911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9" name=""/>
          <p:cNvCxnSpPr>
            <a:stCxn xmlns:a="http://schemas.openxmlformats.org/drawingml/2006/main" id="6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9829800" y="2286000"/>
            <a:ext cx="0" cy="3105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B290DD-FDD0-4465-9855-6A203744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86200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7FAFC"/>
                </a:solidFill>
              </a:defRPr>
            </a:pPr>
            <a:r>
              <a:rPr sz="1500" b="1" i="0">
                <a:solidFill>
                  <a:srgbClr val="F7FAFC"/>
                </a:solidFill>
              </a:rPr>
              <a:t>Shared contract: REST endpoints + incident shape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2AAB66-73F6-45E5-8472-777B656A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2E8349-3A73-4891-90BA-AD727D05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5517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B956E-6DF8-424D-BFF4-0FF00178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22 /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DC1AB-6327-4C32-BD7E-9C0BC365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The value is the operational picture, not just the message inbox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60C8A-DB27-4600-946C-AD69C3CF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DISASTER REPORT">
            <a:extLst xmlns:a="http://schemas.openxmlformats.org/drawingml/2006/main">
              <a:ext uri="{FF2B5EF4-FFF2-40B4-BE49-F238E27FC236}">
                <a16:creationId xmlns:a16="http://schemas.microsoft.com/office/drawing/2014/main" id="{406DC085-75AC-44A9-836C-B9DEF824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DISASTER REPORT</a:t>
            </a:r>
          </a:p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scattered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6ADC5-4A0B-4B35-A9E7-ECA589A2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APDAAI">
            <a:extLst xmlns:a="http://schemas.openxmlformats.org/drawingml/2006/main">
              <a:ext uri="{FF2B5EF4-FFF2-40B4-BE49-F238E27FC236}">
                <a16:creationId xmlns:a16="http://schemas.microsoft.com/office/drawing/2014/main" id="{8702356E-DD50-41EA-9323-CBDC850F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7650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AAPDAAI</a:t>
            </a:r>
          </a:p>
          <a:p xmlns:a="http://schemas.openxmlformats.org/drawingml/2006/main">
            <a:pPr algn="ctr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771AA-7460-4B43-9135-6C5DF7B6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76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UCTURED DATA">
            <a:extLst xmlns:a="http://schemas.openxmlformats.org/drawingml/2006/main">
              <a:ext uri="{FF2B5EF4-FFF2-40B4-BE49-F238E27FC236}">
                <a16:creationId xmlns:a16="http://schemas.microsoft.com/office/drawing/2014/main" id="{14C17BFC-AC60-4DCD-AFD5-92DBFE3E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STRUCTURED DATA</a:t>
            </a:r>
          </a:p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location + need + people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62494-53E4-40A8-A24D-2AF412B3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ETTER DECISION">
            <a:extLst xmlns:a="http://schemas.openxmlformats.org/drawingml/2006/main">
              <a:ext uri="{FF2B5EF4-FFF2-40B4-BE49-F238E27FC236}">
                <a16:creationId xmlns:a16="http://schemas.microsoft.com/office/drawing/2014/main" id="{CAFF9ED8-5F06-4CF2-A716-0CB47ED9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BETTER DECISION</a:t>
            </a:r>
          </a:p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human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3BE4A-0DC0-4BFC-BCEC-EF692D08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29146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810250" y="29146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63000" y="29146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6C85F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4B909-AD3D-4730-A40E-B90F91E7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7FAFC"/>
                </a:solidFill>
              </a:defRPr>
            </a:pPr>
            <a:r>
              <a:rPr sz="1800" b="1" i="0">
                <a:solidFill>
                  <a:srgbClr val="F7FAFC"/>
                </a:solidFill>
              </a:rPr>
              <a:t>AapdaAI turns scattered disaster reports into a structured operational picture for decision makers.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D3FA6-9B8A-4EE3-A2DD-FDDB11CF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157C9-7694-437A-8EA1-74620B0A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856389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70767C-F586-4E1C-8A7D-C981BC4A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23 / 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B28C5-26EC-4550-84A0-B27EDD8B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7FAFC"/>
                </a:solidFill>
              </a:defRPr>
            </a:pPr>
            <a:r>
              <a:rPr sz="2625" b="1" i="0">
                <a:solidFill>
                  <a:srgbClr val="F7FAFC"/>
                </a:solidFill>
              </a:rPr>
              <a:t>The stack is intentionally legible: familiar parts, one coherent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E0FCD-F267-4825-AB3D-9FEA7500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AFA96-CDEA-4BF9-9944-927992C9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5D483"/>
                </a:solidFill>
              </a:defRPr>
            </a:pPr>
            <a:r>
              <a:rPr sz="1425" b="1" i="0">
                <a:solidFill>
                  <a:srgbClr val="45D483"/>
                </a:solidFill>
              </a:rPr>
              <a:t>FRONTEND</a:t>
            </a:r>
          </a:p>
        </p:txBody>
      </p:sp>
      <p:sp>
        <p:nvSpPr>
          <p:cNvPr id="5" name="React 19">
            <a:extLst xmlns:a="http://schemas.openxmlformats.org/drawingml/2006/main">
              <a:ext uri="{FF2B5EF4-FFF2-40B4-BE49-F238E27FC236}">
                <a16:creationId xmlns:a16="http://schemas.microsoft.com/office/drawing/2014/main" id="{154CCC08-5DB1-4C14-9C9D-B9CDAFA7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React 19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used in 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0E828-72BD-4AEC-89F4-5B3216EF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Vite 8">
            <a:extLst xmlns:a="http://schemas.openxmlformats.org/drawingml/2006/main">
              <a:ext uri="{FF2B5EF4-FFF2-40B4-BE49-F238E27FC236}">
                <a16:creationId xmlns:a16="http://schemas.microsoft.com/office/drawing/2014/main" id="{AE64C7F4-1018-486B-9544-D65AC9A8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Vite 8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used in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0930E-64F1-407A-A35A-5B9D7BAD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ilwind 4">
            <a:extLst xmlns:a="http://schemas.openxmlformats.org/drawingml/2006/main">
              <a:ext uri="{FF2B5EF4-FFF2-40B4-BE49-F238E27FC236}">
                <a16:creationId xmlns:a16="http://schemas.microsoft.com/office/drawing/2014/main" id="{B5D0E4AB-9413-42AF-8CCB-9A6FB860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Tailwind 4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used in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1F330-B131-436C-BB3D-D4E25812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eaflet / Recharts">
            <a:extLst xmlns:a="http://schemas.openxmlformats.org/drawingml/2006/main">
              <a:ext uri="{FF2B5EF4-FFF2-40B4-BE49-F238E27FC236}">
                <a16:creationId xmlns:a16="http://schemas.microsoft.com/office/drawing/2014/main" id="{AA113662-01C9-4191-8211-B3FB94EB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Leaflet / Recharts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used in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A2B2F-2798-4B34-A877-B93C9D57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F2A26-9122-4CAF-84A8-B0EA3DB0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7A6E"/>
                </a:solidFill>
              </a:defRPr>
            </a:pPr>
            <a:r>
              <a:rPr sz="1425" b="1" i="0">
                <a:solidFill>
                  <a:srgbClr val="FF7A6E"/>
                </a:solidFill>
              </a:rPr>
              <a:t>BACKEND</a:t>
            </a:r>
          </a:p>
        </p:txBody>
      </p:sp>
      <p:sp>
        <p:nvSpPr>
          <p:cNvPr id="14" name="Python 3.12">
            <a:extLst xmlns:a="http://schemas.openxmlformats.org/drawingml/2006/main">
              <a:ext uri="{FF2B5EF4-FFF2-40B4-BE49-F238E27FC236}">
                <a16:creationId xmlns:a16="http://schemas.microsoft.com/office/drawing/2014/main" id="{5211A7D1-0335-42C4-A476-3F0D8473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Python 3.12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used in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131C6-F15D-49D8-B4B8-3BE4222E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astAPI">
            <a:extLst xmlns:a="http://schemas.openxmlformats.org/drawingml/2006/main">
              <a:ext uri="{FF2B5EF4-FFF2-40B4-BE49-F238E27FC236}">
                <a16:creationId xmlns:a16="http://schemas.microsoft.com/office/drawing/2014/main" id="{EDDA619B-2552-4015-B3FF-BE060B37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FastAPI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used in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6D97CE-8CFD-4C04-9B1B-9D0B6BBE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Uvicorn">
            <a:extLst xmlns:a="http://schemas.openxmlformats.org/drawingml/2006/main">
              <a:ext uri="{FF2B5EF4-FFF2-40B4-BE49-F238E27FC236}">
                <a16:creationId xmlns:a16="http://schemas.microsoft.com/office/drawing/2014/main" id="{DF95EDA0-B954-450C-A444-B115CC16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Uvicorn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used in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509781-E73D-4FC7-B0BC-599A54A9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ttpx">
            <a:extLst xmlns:a="http://schemas.openxmlformats.org/drawingml/2006/main">
              <a:ext uri="{FF2B5EF4-FFF2-40B4-BE49-F238E27FC236}">
                <a16:creationId xmlns:a16="http://schemas.microsoft.com/office/drawing/2014/main" id="{2DD6C78F-3305-4325-B38D-9D9AF67B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httpx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used in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A8AE28-236C-43D0-BFAD-75F790F3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BBBA9-67E4-48FF-BEFA-A404E8D9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AFA5FF"/>
                </a:solidFill>
              </a:defRPr>
            </a:pPr>
            <a:r>
              <a:rPr sz="1425" b="1" i="0">
                <a:solidFill>
                  <a:srgbClr val="AFA5FF"/>
                </a:solidFill>
              </a:rPr>
              <a:t>DATA</a:t>
            </a:r>
          </a:p>
        </p:txBody>
      </p:sp>
      <p:sp>
        <p:nvSpPr>
          <p:cNvPr id="23" name="SQLite locally">
            <a:extLst xmlns:a="http://schemas.openxmlformats.org/drawingml/2006/main">
              <a:ext uri="{FF2B5EF4-FFF2-40B4-BE49-F238E27FC236}">
                <a16:creationId xmlns:a16="http://schemas.microsoft.com/office/drawing/2014/main" id="{1D14BA02-1761-48FF-AF2D-2C258B07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SQLite locally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used in code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73E97-7ECC-4F11-A011-25FB16F9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ostgres on Render">
            <a:extLst xmlns:a="http://schemas.openxmlformats.org/drawingml/2006/main">
              <a:ext uri="{FF2B5EF4-FFF2-40B4-BE49-F238E27FC236}">
                <a16:creationId xmlns:a16="http://schemas.microsoft.com/office/drawing/2014/main" id="{E9F39E55-3105-4A05-A1D1-EACD5482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Postgres on Render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used in code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4B2BD7-1AE8-4261-97F5-AFD620B1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rameterized SQL">
            <a:extLst xmlns:a="http://schemas.openxmlformats.org/drawingml/2006/main">
              <a:ext uri="{FF2B5EF4-FFF2-40B4-BE49-F238E27FC236}">
                <a16:creationId xmlns:a16="http://schemas.microsoft.com/office/drawing/2014/main" id="{0D831003-0D00-46DA-9E19-1C727D70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parameterized SQL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used in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1B6FD4-E74F-4DC1-8108-C740D930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aw + derived state">
            <a:extLst xmlns:a="http://schemas.openxmlformats.org/drawingml/2006/main">
              <a:ext uri="{FF2B5EF4-FFF2-40B4-BE49-F238E27FC236}">
                <a16:creationId xmlns:a16="http://schemas.microsoft.com/office/drawing/2014/main" id="{BD27A144-F631-403A-B73B-ECD2560F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raw + derived state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used in code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AC6B5F-105E-417F-BADC-453E3B6A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14A994-99BE-4C75-ABB8-7D443A67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5D6E6"/>
                </a:solidFill>
              </a:defRPr>
            </a:pPr>
            <a:r>
              <a:rPr sz="1425" b="1" i="0">
                <a:solidFill>
                  <a:srgbClr val="55D6E6"/>
                </a:solidFill>
              </a:rPr>
              <a:t>INTEGRATIONS</a:t>
            </a:r>
          </a:p>
        </p:txBody>
      </p:sp>
      <p:sp>
        <p:nvSpPr>
          <p:cNvPr id="32" name="Meta WhatsApp">
            <a:extLst xmlns:a="http://schemas.openxmlformats.org/drawingml/2006/main">
              <a:ext uri="{FF2B5EF4-FFF2-40B4-BE49-F238E27FC236}">
                <a16:creationId xmlns:a16="http://schemas.microsoft.com/office/drawing/2014/main" id="{FFA152B0-13B1-472F-82B0-AE5B1991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Meta WhatsApp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used in code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DDBAA5-25A7-4D7E-BA31-C71C7499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oq text / Whisper">
            <a:extLst xmlns:a="http://schemas.openxmlformats.org/drawingml/2006/main">
              <a:ext uri="{FF2B5EF4-FFF2-40B4-BE49-F238E27FC236}">
                <a16:creationId xmlns:a16="http://schemas.microsoft.com/office/drawing/2014/main" id="{437760D7-348F-4A0D-8B58-9E651278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Groq text / Whisper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used in code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DD4FED-C914-423D-B6B4-FCF8925F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ender deploy">
            <a:extLst xmlns:a="http://schemas.openxmlformats.org/drawingml/2006/main">
              <a:ext uri="{FF2B5EF4-FFF2-40B4-BE49-F238E27FC236}">
                <a16:creationId xmlns:a16="http://schemas.microsoft.com/office/drawing/2014/main" id="{83FA400B-E68E-4C74-B26D-B5A85D3D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147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Render deploy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used in code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E1BEF6-BE88-4BE4-BB9B-7D3F058B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147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EST API">
            <a:extLst xmlns:a="http://schemas.openxmlformats.org/drawingml/2006/main">
              <a:ext uri="{FF2B5EF4-FFF2-40B4-BE49-F238E27FC236}">
                <a16:creationId xmlns:a16="http://schemas.microsoft.com/office/drawing/2014/main" id="{4E51E474-CE45-44BC-8EA4-7E46E164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815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REST API</a:t>
            </a:r>
          </a:p>
          <a:p xmlns:a="http://schemas.openxmlformats.org/drawingml/2006/main">
            <a:pPr algn="ctr">
              <a:defRPr sz="1050" b="1">
                <a:solidFill>
                  <a:srgbClr val="F7FAFC"/>
                </a:solidFill>
              </a:defRPr>
            </a:pPr>
            <a:r>
              <a:rPr sz="1050" b="1">
                <a:solidFill>
                  <a:srgbClr val="F7FAFC"/>
                </a:solidFill>
              </a:rPr>
              <a:t>used in code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47B64E-91AB-48DB-94DF-16A1DAB7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815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4A838F-6D70-4F59-9581-2B8D0F79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19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7FAFC"/>
                </a:solidFill>
              </a:defRPr>
            </a:pPr>
            <a:r>
              <a:rPr sz="1500" b="1" i="0">
                <a:solidFill>
                  <a:srgbClr val="F7FAFC"/>
                </a:solidFill>
              </a:rPr>
              <a:t>Source of truth: the repositories, not the diagram.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A78E26-B3D1-481B-B1D1-34120804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HACKATHON PROTOTYPE / SOURCE-OF-TRUTH WALKTHROUGH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461A3C-6EDA-4D15-A05E-1EFC589E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5D6E6"/>
                </a:solidFill>
              </a:defRPr>
            </a:pPr>
            <a:r>
              <a:rPr sz="1200" b="1" i="0">
                <a:solidFill>
                  <a:srgbClr val="55D6E6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79781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2026-08-28T16:24:58.6080000Z</dcterms:created>
  <dcterms:modified xsi:type="dcterms:W3CDTF">2026-08-28T16:24:58.6080000Z</dcterms:modified>
</coreProperties>
</file>